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5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00000" y="2100000"/>
            <a:ext cx="5800000" cy="1100000"/>
          </a:xfrm>
          <a:prstGeom prst="rect">
            <a:avLst/>
          </a:prstGeom>
          <a:noFill/>
        </p:spPr>
        <p:txBody>
          <a:bodyPr wrap="square">
            <a:spAutoFit/>
          </a:bodyPr>
          <a:lstStyle/>
          <a:p>
            <a:pPr algn="ctr"/>
            <a:r>
              <a:rPr sz="2400" b="1">
                <a:solidFill>
                  <a:srgbClr val="000000"/>
                </a:solidFill>
                <a:latin typeface="Times New Roman"/>
              </a:rPr>
              <a:t>PROJECT PHASE I</a:t>
            </a:r>
          </a:p>
        </p:txBody>
      </p:sp>
      <p:sp>
        <p:nvSpPr>
          <p:cNvPr id="5" name="TextBox 4"/>
          <p:cNvSpPr txBox="1"/>
          <p:nvPr/>
        </p:nvSpPr>
        <p:spPr>
          <a:xfrm>
            <a:off x="1500000" y="600000"/>
            <a:ext cx="9200000" cy="900000"/>
          </a:xfrm>
          <a:prstGeom prst="rect">
            <a:avLst/>
          </a:prstGeom>
          <a:noFill/>
        </p:spPr>
        <p:txBody>
          <a:bodyPr wrap="square">
            <a:spAutoFit/>
          </a:bodyPr>
          <a:lstStyle/>
          <a:p>
            <a:pPr algn="ctr"/>
            <a:r>
              <a:rPr sz="2000" b="1">
                <a:solidFill>
                  <a:srgbClr val="0070C0"/>
                </a:solidFill>
                <a:latin typeface="Times New Roman"/>
              </a:rPr>
              <a:t>VELUXE — Event Services, Catering Workforce &amp; Rental Marketplace</a:t>
            </a:r>
          </a:p>
        </p:txBody>
      </p:sp>
      <p:sp>
        <p:nvSpPr>
          <p:cNvPr id="6" name="TextBox 5"/>
          <p:cNvSpPr txBox="1"/>
          <p:nvPr/>
        </p:nvSpPr>
        <p:spPr>
          <a:xfrm>
            <a:off x="700000" y="3500000"/>
            <a:ext cx="3600000" cy="2700000"/>
          </a:xfrm>
          <a:prstGeom prst="rect">
            <a:avLst/>
          </a:prstGeom>
          <a:noFill/>
        </p:spPr>
        <p:txBody>
          <a:bodyPr wrap="square">
            <a:spAutoFit/>
          </a:bodyPr>
          <a:lstStyle/>
          <a:p>
            <a:pPr algn="l"/>
            <a:r>
              <a:rPr sz="1800" b="1">
                <a:solidFill>
                  <a:srgbClr val="0070C0"/>
                </a:solidFill>
                <a:latin typeface="Times New Roman"/>
              </a:rPr>
              <a:t>Guided by:</a:t>
            </a:r>
          </a:p>
          <a:p>
            <a:pPr algn="l"/>
            <a:r>
              <a:rPr sz="1600" b="1">
                <a:solidFill>
                  <a:srgbClr val="000000"/>
                </a:solidFill>
                <a:latin typeface="Times New Roman"/>
              </a:rPr>
              <a:t>[GUIDE NAME], [DESIGNATION]</a:t>
            </a:r>
          </a:p>
          <a:p>
            <a:pPr algn="l"/>
            <a:r>
              <a:rPr sz="1600" b="0">
                <a:solidFill>
                  <a:srgbClr val="000000"/>
                </a:solidFill>
                <a:latin typeface="Times New Roman"/>
              </a:rPr>
              <a:t>[DEPARTMENT],</a:t>
            </a:r>
          </a:p>
          <a:p>
            <a:pPr algn="l"/>
            <a:r>
              <a:rPr sz="1600" b="0">
                <a:solidFill>
                  <a:srgbClr val="000000"/>
                </a:solidFill>
                <a:latin typeface="Times New Roman"/>
              </a:rPr>
              <a:t>[COLLEGE NAME],</a:t>
            </a:r>
          </a:p>
          <a:p>
            <a:pPr algn="l"/>
            <a:r>
              <a:rPr sz="1600" b="0">
                <a:solidFill>
                  <a:srgbClr val="000000"/>
                </a:solidFill>
                <a:latin typeface="Times New Roman"/>
              </a:rPr>
              <a:t>[LOCATION]</a:t>
            </a:r>
          </a:p>
        </p:txBody>
      </p:sp>
      <p:sp>
        <p:nvSpPr>
          <p:cNvPr id="7" name="TextBox 6"/>
          <p:cNvSpPr txBox="1"/>
          <p:nvPr/>
        </p:nvSpPr>
        <p:spPr>
          <a:xfrm>
            <a:off x="5700000" y="3500000"/>
            <a:ext cx="4400000" cy="2600000"/>
          </a:xfrm>
          <a:prstGeom prst="rect">
            <a:avLst/>
          </a:prstGeom>
          <a:noFill/>
        </p:spPr>
        <p:txBody>
          <a:bodyPr wrap="square">
            <a:spAutoFit/>
          </a:bodyPr>
          <a:lstStyle/>
          <a:p>
            <a:pPr algn="l"/>
            <a:r>
              <a:rPr sz="1800" b="1">
                <a:solidFill>
                  <a:srgbClr val="0070C0"/>
                </a:solidFill>
                <a:latin typeface="Times New Roman"/>
              </a:rPr>
              <a:t>Presented by:</a:t>
            </a:r>
          </a:p>
          <a:p>
            <a:pPr algn="l"/>
            <a:r>
              <a:rPr sz="1400" b="0">
                <a:solidFill>
                  <a:srgbClr val="000000"/>
                </a:solidFill>
                <a:latin typeface="Times New Roman"/>
              </a:rPr>
              <a:t>[STUDENT NAME 1]  —  [REG NO 1]</a:t>
            </a:r>
          </a:p>
          <a:p>
            <a:pPr algn="l"/>
            <a:r>
              <a:rPr sz="1400" b="0">
                <a:solidFill>
                  <a:srgbClr val="000000"/>
                </a:solidFill>
                <a:latin typeface="Times New Roman"/>
              </a:rPr>
              <a:t>[STUDENT NAME 2]  —  [REG NO 2]</a:t>
            </a:r>
          </a:p>
          <a:p>
            <a:pPr algn="l"/>
            <a:r>
              <a:rPr sz="1400" b="0">
                <a:solidFill>
                  <a:srgbClr val="000000"/>
                </a:solidFill>
                <a:latin typeface="Times New Roman"/>
              </a:rPr>
              <a:t>[STUDENT NAME 3]  —  [REG NO 3]</a:t>
            </a:r>
          </a:p>
          <a:p>
            <a:pPr algn="l"/>
            <a:r>
              <a:rPr sz="1400" b="0">
                <a:solidFill>
                  <a:srgbClr val="000000"/>
                </a:solidFill>
                <a:latin typeface="Times New Roman"/>
              </a:rPr>
              <a:t>[STUDENT NAME 4]  —  [REG NO 4]</a:t>
            </a:r>
          </a:p>
          <a:p>
            <a:pPr algn="l"/>
            <a:r>
              <a:rPr sz="1000" b="0">
                <a:solidFill>
                  <a:srgbClr val="000000"/>
                </a:solidFill>
                <a:latin typeface="Times New Roman"/>
              </a:rPr>
              <a:t/>
            </a:r>
          </a:p>
          <a:p>
            <a:pPr algn="l"/>
            <a:r>
              <a:rPr sz="1400" b="0">
                <a:solidFill>
                  <a:srgbClr val="000000"/>
                </a:solidFill>
                <a:latin typeface="Times New Roman"/>
              </a:rPr>
              <a:t>[DEPARTMENT]</a:t>
            </a:r>
          </a:p>
          <a:p>
            <a:pPr algn="l"/>
            <a:r>
              <a:rPr sz="1400" b="0">
                <a:solidFill>
                  <a:srgbClr val="000000"/>
                </a:solidFill>
                <a:latin typeface="Times New Roman"/>
              </a:rPr>
              <a:t>[BATCH / YEAR]</a:t>
            </a:r>
          </a:p>
        </p:txBody>
      </p:sp>
      <p:sp>
        <p:nvSpPr>
          <p:cNvPr id="8" name="TextBox 7"/>
          <p:cNvSpPr txBox="1"/>
          <p:nvPr/>
        </p:nvSpPr>
        <p:spPr>
          <a:xfrm>
            <a:off x="700000" y="600000"/>
            <a:ext cx="1500000" cy="400000"/>
          </a:xfrm>
          <a:prstGeom prst="rect">
            <a:avLst/>
          </a:prstGeom>
          <a:noFill/>
        </p:spPr>
        <p:txBody>
          <a:bodyPr wrap="square">
            <a:spAutoFit/>
          </a:bodyPr>
          <a:lstStyle/>
          <a:p>
            <a:pPr algn="ctr"/>
            <a:r>
              <a:rPr sz="1200" b="0">
                <a:solidFill>
                  <a:srgbClr val="999999"/>
                </a:solidFill>
                <a:latin typeface="Times New Roman"/>
              </a:rPr>
              <a:t>[COLLEGE LOGO]</a:t>
            </a:r>
          </a:p>
        </p:txBody>
      </p:sp>
      <p:sp>
        <p:nvSpPr>
          <p:cNvPr id="9" name="TextBox 8"/>
          <p:cNvSpPr txBox="1"/>
          <p:nvPr/>
        </p:nvSpPr>
        <p:spPr>
          <a:xfrm>
            <a:off x="10000000" y="600000"/>
            <a:ext cx="1500000" cy="400000"/>
          </a:xfrm>
          <a:prstGeom prst="rect">
            <a:avLst/>
          </a:prstGeom>
          <a:noFill/>
        </p:spPr>
        <p:txBody>
          <a:bodyPr wrap="square">
            <a:spAutoFit/>
          </a:bodyPr>
          <a:lstStyle/>
          <a:p>
            <a:pPr algn="ctr"/>
            <a:r>
              <a:rPr sz="1200" b="0">
                <a:solidFill>
                  <a:srgbClr val="999999"/>
                </a:solidFill>
                <a:latin typeface="Times New Roman"/>
              </a:rPr>
              <a:t>[UNIVERSITY LOGO]</a:t>
            </a:r>
          </a:p>
        </p:txBody>
      </p:sp>
      <p:sp>
        <p:nvSpPr>
          <p:cNvPr id="10" name="TextBox 9"/>
          <p:cNvSpPr txBox="1"/>
          <p:nvPr/>
        </p:nvSpPr>
        <p:spPr>
          <a:xfrm>
            <a:off x="2200000" y="1700000"/>
            <a:ext cx="5800000" cy="300000"/>
          </a:xfrm>
          <a:prstGeom prst="rect">
            <a:avLst/>
          </a:prstGeom>
          <a:noFill/>
        </p:spPr>
        <p:txBody>
          <a:bodyPr wrap="square">
            <a:spAutoFit/>
          </a:bodyPr>
          <a:lstStyle/>
          <a:p>
            <a:pPr algn="ctr"/>
            <a:r>
              <a:rPr sz="1400" b="0">
                <a:solidFill>
                  <a:srgbClr val="444444"/>
                </a:solidFill>
                <a:latin typeface="Times New Roman"/>
              </a:rPr>
              <a:t>Review Date: [DD/MM/YYYY]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Overview</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800" b="0">
                <a:solidFill>
                  <a:srgbClr val="1A1A2E"/>
                </a:solidFill>
                <a:latin typeface="Times New Roman"/>
              </a:rPr>
              <a:t>1.  Introduction</a:t>
            </a:r>
          </a:p>
          <a:p>
            <a:pPr algn="l"/>
            <a:r>
              <a:rPr sz="1800" b="0">
                <a:solidFill>
                  <a:srgbClr val="1A1A2E"/>
                </a:solidFill>
                <a:latin typeface="Times New Roman"/>
              </a:rPr>
              <a:t>2.  Objective</a:t>
            </a:r>
          </a:p>
          <a:p>
            <a:pPr algn="l"/>
            <a:r>
              <a:rPr sz="1800" b="0">
                <a:solidFill>
                  <a:srgbClr val="1A1A2E"/>
                </a:solidFill>
                <a:latin typeface="Times New Roman"/>
              </a:rPr>
              <a:t>3.  Literature Survey</a:t>
            </a:r>
          </a:p>
          <a:p>
            <a:pPr algn="l"/>
            <a:r>
              <a:rPr sz="1800" b="0">
                <a:solidFill>
                  <a:srgbClr val="1A1A2E"/>
                </a:solidFill>
                <a:latin typeface="Times New Roman"/>
              </a:rPr>
              <a:t>4.  Existing System</a:t>
            </a:r>
          </a:p>
          <a:p>
            <a:pPr algn="l"/>
            <a:r>
              <a:rPr sz="1800" b="0">
                <a:solidFill>
                  <a:srgbClr val="1A1A2E"/>
                </a:solidFill>
                <a:latin typeface="Times New Roman"/>
              </a:rPr>
              <a:t>5.  Proposed System</a:t>
            </a:r>
          </a:p>
          <a:p>
            <a:pPr algn="l"/>
            <a:r>
              <a:rPr sz="1800" b="0">
                <a:solidFill>
                  <a:srgbClr val="1A1A2E"/>
                </a:solidFill>
                <a:latin typeface="Times New Roman"/>
              </a:rPr>
              <a:t>6.  System Architecture</a:t>
            </a:r>
          </a:p>
          <a:p>
            <a:pPr algn="l"/>
            <a:r>
              <a:rPr sz="1800" b="0">
                <a:solidFill>
                  <a:srgbClr val="1A1A2E"/>
                </a:solidFill>
                <a:latin typeface="Times New Roman"/>
              </a:rPr>
              <a:t>7.  Modules</a:t>
            </a:r>
          </a:p>
          <a:p>
            <a:pPr algn="l"/>
            <a:r>
              <a:rPr sz="1800" b="0">
                <a:solidFill>
                  <a:srgbClr val="1A1A2E"/>
                </a:solidFill>
                <a:latin typeface="Times New Roman"/>
              </a:rPr>
              <a:t>8.  Module Descriptions</a:t>
            </a:r>
          </a:p>
          <a:p>
            <a:pPr algn="l"/>
            <a:r>
              <a:rPr sz="1800" b="0">
                <a:solidFill>
                  <a:srgbClr val="1A1A2E"/>
                </a:solidFill>
                <a:latin typeface="Times New Roman"/>
              </a:rPr>
              <a:t>9.  Output Screenshots</a:t>
            </a:r>
          </a:p>
          <a:p>
            <a:pPr algn="l"/>
            <a:r>
              <a:rPr sz="1800" b="0">
                <a:solidFill>
                  <a:srgbClr val="1A1A2E"/>
                </a:solidFill>
                <a:latin typeface="Times New Roman"/>
              </a:rPr>
              <a:t>10. Conclusion</a:t>
            </a:r>
          </a:p>
          <a:p>
            <a:pPr algn="l"/>
            <a:r>
              <a:rPr sz="1800" b="0">
                <a:solidFill>
                  <a:srgbClr val="1A1A2E"/>
                </a:solidFill>
                <a:latin typeface="Times New Roman"/>
              </a:rPr>
              <a:t>11. Future Enhancement</a:t>
            </a:r>
          </a:p>
          <a:p>
            <a:pPr algn="l"/>
            <a:r>
              <a:rPr sz="1800" b="0">
                <a:solidFill>
                  <a:srgbClr val="1A1A2E"/>
                </a:solidFill>
                <a:latin typeface="Times New Roman"/>
              </a:rPr>
              <a:t>12.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Objective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3</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600" b="0">
                <a:solidFill>
                  <a:srgbClr val="1A1A2E"/>
                </a:solidFill>
                <a:latin typeface="Times New Roman"/>
              </a:rPr>
              <a:t>The primary objective of the VELUXE platform is to develop a comprehensive, multi-sided digital marketplace that unites event organizer companies, customers, catering workers, and equipment rental providers within a single, centralized system.
The platform aims to streamline event service discovery, workforce hiring, equipment rental management, package customization, price negotiation, and booking coordination — replacing fragmented manual processes with structured, transparent digital workflows.
Key objectives include enabling organizer companies to publish customizable event packages, allowing customers to compare services and negotiate through in-app communication, supporting direct worker hiring independent of event bookings, facilitating standalone equipment rentals with inventory management, and providing administrators with controlled moderation and audit tools to ensure platform integrity and user trust.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Introduction</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4</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Organizing an event often requires coordination among multiple independent parties — event organizer companies, catering workers, serving staff, equipment rental providers, and the customers themselves. When these services are managed through separate conversations and manual processes, it becomes difficult to compare packages, confirm availability, adjust quantities, coordinate providers, and maintain clear records of agreed prices and services.
VELUXE is a digital multi-sided platform designed to solve this coordination challenge. Built using Next.js 16 with App Router, TypeScript, Tailwind CSS v4, and Supabase for backend services, the platform delivers a premium, editorial-quality user experience with role-specific dashboards for organizers, customers, workers, rental providers, and administrators.
The platform supports three distinct business workflows: event organizer package booking with proposal negotiation, direct catering worker hiring, and standalone equipment rental orders — each maintained as separate business entities while coexisting within a unified marketplace experience.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Literature Survey</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5</a:t>
            </a:r>
          </a:p>
        </p:txBody>
      </p:sp>
      <p:sp>
        <p:nvSpPr>
          <p:cNvPr id="7" name="TextBox 6"/>
          <p:cNvSpPr txBox="1"/>
          <p:nvPr/>
        </p:nvSpPr>
        <p:spPr>
          <a:xfrm>
            <a:off x="800000" y="2500000"/>
            <a:ext cx="10600000" cy="1500000"/>
          </a:xfrm>
          <a:prstGeom prst="rect">
            <a:avLst/>
          </a:prstGeom>
          <a:noFill/>
        </p:spPr>
        <p:txBody>
          <a:bodyPr wrap="square">
            <a:spAutoFit/>
          </a:bodyPr>
          <a:lstStyle/>
          <a:p>
            <a:pPr algn="ctr"/>
            <a:r>
              <a:rPr sz="1600" b="0">
                <a:solidFill>
                  <a:srgbClr val="1A1A2E"/>
                </a:solidFill>
                <a:latin typeface="Times New Roman"/>
              </a:rPr>
              <a:t>The following survey examines recent research and technologies relevant to multi-sided marketplace platforms, real-time web applications, event management systems, and modern full-stack architectures.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00000" y="300000"/>
          <a:ext cx="11800000" cy="6200000"/>
        </p:xfrm>
        <a:graphic>
          <a:graphicData uri="http://schemas.openxmlformats.org/drawingml/2006/table">
            <a:tbl>
              <a:tblPr firstRow="1" bandRow="1">
                <a:tableStyleId>{5C22544A-7EE6-4342-B048-85BDC9FD1C3A}</a:tableStyleId>
              </a:tblPr>
              <a:tblGrid>
                <a:gridCol w="600000"/>
                <a:gridCol w="700000"/>
                <a:gridCol w="2800000"/>
                <a:gridCol w="2200000"/>
                <a:gridCol w="2400000"/>
                <a:gridCol w="3100000"/>
              </a:tblGrid>
              <a:tr h="1550000">
                <a:tc>
                  <a:txBody>
                    <a:bodyPr wrap="square"/>
                    <a:lstStyle/>
                    <a:p>
                      <a:pPr algn="ctr"/>
                      <a:r>
                        <a:rPr sz="1000" b="1">
                          <a:solidFill>
                            <a:srgbClr val="FFFFFF"/>
                          </a:solidFill>
                          <a:latin typeface="Times New Roman"/>
                        </a:rPr>
                        <a:t>S.NO</a:t>
                      </a:r>
                    </a:p>
                  </a:txBody>
                  <a:tcPr anchor="ctr">
                    <a:solidFill>
                      <a:srgbClr val="003266"/>
                    </a:solidFill>
                  </a:tcPr>
                </a:tc>
                <a:tc>
                  <a:txBody>
                    <a:bodyPr wrap="square"/>
                    <a:lstStyle/>
                    <a:p>
                      <a:pPr algn="ctr"/>
                      <a:r>
                        <a:rPr sz="1000" b="1">
                          <a:solidFill>
                            <a:srgbClr val="FFFFFF"/>
                          </a:solidFill>
                          <a:latin typeface="Times New Roman"/>
                        </a:rPr>
                        <a:t>YEAR</a:t>
                      </a:r>
                    </a:p>
                  </a:txBody>
                  <a:tcPr anchor="ctr">
                    <a:solidFill>
                      <a:srgbClr val="003266"/>
                    </a:solidFill>
                  </a:tcPr>
                </a:tc>
                <a:tc>
                  <a:txBody>
                    <a:bodyPr wrap="square"/>
                    <a:lstStyle/>
                    <a:p>
                      <a:pPr algn="ctr"/>
                      <a:r>
                        <a:rPr sz="1000" b="1">
                          <a:solidFill>
                            <a:srgbClr val="FFFFFF"/>
                          </a:solidFill>
                          <a:latin typeface="Times New Roman"/>
                        </a:rPr>
                        <a:t>TITLE</a:t>
                      </a:r>
                    </a:p>
                  </a:txBody>
                  <a:tcPr anchor="ctr">
                    <a:solidFill>
                      <a:srgbClr val="003266"/>
                    </a:solidFill>
                  </a:tcPr>
                </a:tc>
                <a:tc>
                  <a:txBody>
                    <a:bodyPr wrap="square"/>
                    <a:lstStyle/>
                    <a:p>
                      <a:pPr algn="ctr"/>
                      <a:r>
                        <a:rPr sz="1000" b="1">
                          <a:solidFill>
                            <a:srgbClr val="FFFFFF"/>
                          </a:solidFill>
                          <a:latin typeface="Times New Roman"/>
                        </a:rPr>
                        <a:t>AUTHORS</a:t>
                      </a:r>
                    </a:p>
                  </a:txBody>
                  <a:tcPr anchor="ctr">
                    <a:solidFill>
                      <a:srgbClr val="003266"/>
                    </a:solidFill>
                  </a:tcPr>
                </a:tc>
                <a:tc>
                  <a:txBody>
                    <a:bodyPr wrap="square"/>
                    <a:lstStyle/>
                    <a:p>
                      <a:pPr algn="ctr"/>
                      <a:r>
                        <a:rPr sz="1000" b="1">
                          <a:solidFill>
                            <a:srgbClr val="FFFFFF"/>
                          </a:solidFill>
                          <a:latin typeface="Times New Roman"/>
                        </a:rPr>
                        <a:t>TECHNOLOGY</a:t>
                      </a:r>
                    </a:p>
                  </a:txBody>
                  <a:tcPr anchor="ctr">
                    <a:solidFill>
                      <a:srgbClr val="003266"/>
                    </a:solidFill>
                  </a:tcPr>
                </a:tc>
                <a:tc>
                  <a:txBody>
                    <a:bodyPr wrap="square"/>
                    <a:lstStyle/>
                    <a:p>
                      <a:pPr algn="ctr"/>
                      <a:r>
                        <a:rPr sz="1000" b="1">
                          <a:solidFill>
                            <a:srgbClr val="FFFFFF"/>
                          </a:solidFill>
                          <a:latin typeface="Times New Roman"/>
                        </a:rPr>
                        <a:t>CONTRIBUTION</a:t>
                      </a:r>
                    </a:p>
                  </a:txBody>
                  <a:tcPr anchor="ctr">
                    <a:solidFill>
                      <a:srgbClr val="003266"/>
                    </a:solidFill>
                  </a:tcPr>
                </a:tc>
              </a:tr>
              <a:tr h="1550000">
                <a:tc>
                  <a:txBody>
                    <a:bodyPr wrap="square"/>
                    <a:lstStyle/>
                    <a:p>
                      <a:pPr algn="l"/>
                      <a:r>
                        <a:rPr sz="900" b="0">
                          <a:solidFill>
                            <a:srgbClr val="000000"/>
                          </a:solidFill>
                          <a:latin typeface="Times New Roman"/>
                        </a:rPr>
                        <a:t>1.</a:t>
                      </a:r>
                    </a:p>
                  </a:txBody>
                  <a:tcPr anchor="ctr">
                    <a:solidFill>
                      <a:srgbClr val="E8F0FE"/>
                    </a:solidFill>
                  </a:tcPr>
                </a:tc>
                <a:tc>
                  <a:txBody>
                    <a:bodyPr wrap="square"/>
                    <a:lstStyle/>
                    <a:p>
                      <a:pPr algn="l"/>
                      <a:r>
                        <a:rPr sz="900" b="0">
                          <a:solidFill>
                            <a:srgbClr val="000000"/>
                          </a:solidFill>
                          <a:latin typeface="Times New Roman"/>
                        </a:rPr>
                        <a:t>2023</a:t>
                      </a:r>
                    </a:p>
                  </a:txBody>
                  <a:tcPr anchor="ctr">
                    <a:solidFill>
                      <a:srgbClr val="E8F0FE"/>
                    </a:solidFill>
                  </a:tcPr>
                </a:tc>
                <a:tc>
                  <a:txBody>
                    <a:bodyPr wrap="square"/>
                    <a:lstStyle/>
                    <a:p>
                      <a:pPr algn="l"/>
                      <a:r>
                        <a:rPr sz="900" b="0">
                          <a:solidFill>
                            <a:srgbClr val="000000"/>
                          </a:solidFill>
                          <a:latin typeface="Times New Roman"/>
                        </a:rPr>
                        <a:t>Server-side rendering strategies for modern React frameworks</a:t>
                      </a:r>
                    </a:p>
                  </a:txBody>
                  <a:tcPr anchor="ctr">
                    <a:solidFill>
                      <a:srgbClr val="E8F0FE"/>
                    </a:solidFill>
                  </a:tcPr>
                </a:tc>
                <a:tc>
                  <a:txBody>
                    <a:bodyPr wrap="square"/>
                    <a:lstStyle/>
                    <a:p>
                      <a:pPr algn="l"/>
                      <a:r>
                        <a:rPr sz="900" b="0">
                          <a:solidFill>
                            <a:srgbClr val="000000"/>
                          </a:solidFill>
                          <a:latin typeface="Times New Roman"/>
                        </a:rPr>
                        <a:t>T. Koppers et al.</a:t>
                      </a:r>
                    </a:p>
                  </a:txBody>
                  <a:tcPr anchor="ctr">
                    <a:solidFill>
                      <a:srgbClr val="E8F0FE"/>
                    </a:solidFill>
                  </a:tcPr>
                </a:tc>
                <a:tc>
                  <a:txBody>
                    <a:bodyPr wrap="square"/>
                    <a:lstStyle/>
                    <a:p>
                      <a:pPr algn="l"/>
                      <a:r>
                        <a:rPr sz="900" b="0">
                          <a:solidFill>
                            <a:srgbClr val="000000"/>
                          </a:solidFill>
                          <a:latin typeface="Times New Roman"/>
                        </a:rPr>
                        <a:t>Next.js App Router, RSC</a:t>
                      </a:r>
                    </a:p>
                  </a:txBody>
                  <a:tcPr anchor="ctr">
                    <a:solidFill>
                      <a:srgbClr val="E8F0FE"/>
                    </a:solidFill>
                  </a:tcPr>
                </a:tc>
                <a:tc>
                  <a:txBody>
                    <a:bodyPr wrap="square"/>
                    <a:lstStyle/>
                    <a:p>
                      <a:pPr algn="l"/>
                      <a:r>
                        <a:rPr sz="900" b="0">
                          <a:solidFill>
                            <a:srgbClr val="000000"/>
                          </a:solidFill>
                          <a:latin typeface="Times New Roman"/>
                        </a:rPr>
                        <a:t>Demonstrated performance gains through React Server Components for data-heavy marketplace UIs.</a:t>
                      </a:r>
                    </a:p>
                  </a:txBody>
                  <a:tcPr anchor="ctr">
                    <a:solidFill>
                      <a:srgbClr val="E8F0FE"/>
                    </a:solidFill>
                  </a:tcPr>
                </a:tc>
              </a:tr>
              <a:tr h="1550000">
                <a:tc>
                  <a:txBody>
                    <a:bodyPr wrap="square"/>
                    <a:lstStyle/>
                    <a:p>
                      <a:pPr algn="l"/>
                      <a:r>
                        <a:rPr sz="900" b="0">
                          <a:solidFill>
                            <a:srgbClr val="000000"/>
                          </a:solidFill>
                          <a:latin typeface="Times New Roman"/>
                        </a:rPr>
                        <a:t>2.</a:t>
                      </a:r>
                    </a:p>
                  </a:txBody>
                  <a:tcPr anchor="ctr">
                    <a:solidFill>
                      <a:srgbClr val="FFFFFF"/>
                    </a:solidFill>
                  </a:tcPr>
                </a:tc>
                <a:tc>
                  <a:txBody>
                    <a:bodyPr wrap="square"/>
                    <a:lstStyle/>
                    <a:p>
                      <a:pPr algn="l"/>
                      <a:r>
                        <a:rPr sz="900" b="0">
                          <a:solidFill>
                            <a:srgbClr val="000000"/>
                          </a:solidFill>
                          <a:latin typeface="Times New Roman"/>
                        </a:rPr>
                        <a:t>2022</a:t>
                      </a:r>
                    </a:p>
                  </a:txBody>
                  <a:tcPr anchor="ctr">
                    <a:solidFill>
                      <a:srgbClr val="FFFFFF"/>
                    </a:solidFill>
                  </a:tcPr>
                </a:tc>
                <a:tc>
                  <a:txBody>
                    <a:bodyPr wrap="square"/>
                    <a:lstStyle/>
                    <a:p>
                      <a:pPr algn="l"/>
                      <a:r>
                        <a:rPr sz="900" b="0">
                          <a:solidFill>
                            <a:srgbClr val="000000"/>
                          </a:solidFill>
                          <a:latin typeface="Times New Roman"/>
                        </a:rPr>
                        <a:t>Supabase: Open-source backend-as-a-service for real-time applications</a:t>
                      </a:r>
                    </a:p>
                  </a:txBody>
                  <a:tcPr anchor="ctr">
                    <a:solidFill>
                      <a:srgbClr val="FFFFFF"/>
                    </a:solidFill>
                  </a:tcPr>
                </a:tc>
                <a:tc>
                  <a:txBody>
                    <a:bodyPr wrap="square"/>
                    <a:lstStyle/>
                    <a:p>
                      <a:pPr algn="l"/>
                      <a:r>
                        <a:rPr sz="900" b="0">
                          <a:solidFill>
                            <a:srgbClr val="000000"/>
                          </a:solidFill>
                          <a:latin typeface="Times New Roman"/>
                        </a:rPr>
                        <a:t>P. Copple, A. Wilson</a:t>
                      </a:r>
                    </a:p>
                  </a:txBody>
                  <a:tcPr anchor="ctr">
                    <a:solidFill>
                      <a:srgbClr val="FFFFFF"/>
                    </a:solidFill>
                  </a:tcPr>
                </a:tc>
                <a:tc>
                  <a:txBody>
                    <a:bodyPr wrap="square"/>
                    <a:lstStyle/>
                    <a:p>
                      <a:pPr algn="l"/>
                      <a:r>
                        <a:rPr sz="900" b="0">
                          <a:solidFill>
                            <a:srgbClr val="000000"/>
                          </a:solidFill>
                          <a:latin typeface="Times New Roman"/>
                        </a:rPr>
                        <a:t>PostgreSQL, Realtime, RLS</a:t>
                      </a:r>
                    </a:p>
                  </a:txBody>
                  <a:tcPr anchor="ctr">
                    <a:solidFill>
                      <a:srgbClr val="FFFFFF"/>
                    </a:solidFill>
                  </a:tcPr>
                </a:tc>
                <a:tc>
                  <a:txBody>
                    <a:bodyPr wrap="square"/>
                    <a:lstStyle/>
                    <a:p>
                      <a:pPr algn="l"/>
                      <a:r>
                        <a:rPr sz="900" b="0">
                          <a:solidFill>
                            <a:srgbClr val="000000"/>
                          </a:solidFill>
                          <a:latin typeface="Times New Roman"/>
                        </a:rPr>
                        <a:t>Validated Supabase as production-ready BaaS with row-level security for multi-tenant applications.</a:t>
                      </a:r>
                    </a:p>
                  </a:txBody>
                  <a:tcPr anchor="ctr">
                    <a:solidFill>
                      <a:srgbClr val="FFFFFF"/>
                    </a:solidFill>
                  </a:tcPr>
                </a:tc>
              </a:tr>
              <a:tr h="1550000">
                <a:tc>
                  <a:txBody>
                    <a:bodyPr wrap="square"/>
                    <a:lstStyle/>
                    <a:p>
                      <a:pPr algn="l"/>
                      <a:r>
                        <a:rPr sz="900" b="0">
                          <a:solidFill>
                            <a:srgbClr val="000000"/>
                          </a:solidFill>
                          <a:latin typeface="Times New Roman"/>
                        </a:rPr>
                        <a:t>3.</a:t>
                      </a:r>
                    </a:p>
                  </a:txBody>
                  <a:tcPr anchor="ctr">
                    <a:solidFill>
                      <a:srgbClr val="E8F0FE"/>
                    </a:solidFill>
                  </a:tcPr>
                </a:tc>
                <a:tc>
                  <a:txBody>
                    <a:bodyPr wrap="square"/>
                    <a:lstStyle/>
                    <a:p>
                      <a:pPr algn="l"/>
                      <a:r>
                        <a:rPr sz="900" b="0">
                          <a:solidFill>
                            <a:srgbClr val="000000"/>
                          </a:solidFill>
                          <a:latin typeface="Times New Roman"/>
                        </a:rPr>
                        <a:t>2023</a:t>
                      </a:r>
                    </a:p>
                  </a:txBody>
                  <a:tcPr anchor="ctr">
                    <a:solidFill>
                      <a:srgbClr val="E8F0FE"/>
                    </a:solidFill>
                  </a:tcPr>
                </a:tc>
                <a:tc>
                  <a:txBody>
                    <a:bodyPr wrap="square"/>
                    <a:lstStyle/>
                    <a:p>
                      <a:pPr algn="l"/>
                      <a:r>
                        <a:rPr sz="900" b="0">
                          <a:solidFill>
                            <a:srgbClr val="000000"/>
                          </a:solidFill>
                          <a:latin typeface="Times New Roman"/>
                        </a:rPr>
                        <a:t>Multi-sided platform design patterns for digital marketplaces</a:t>
                      </a:r>
                    </a:p>
                  </a:txBody>
                  <a:tcPr anchor="ctr">
                    <a:solidFill>
                      <a:srgbClr val="E8F0FE"/>
                    </a:solidFill>
                  </a:tcPr>
                </a:tc>
                <a:tc>
                  <a:txBody>
                    <a:bodyPr wrap="square"/>
                    <a:lstStyle/>
                    <a:p>
                      <a:pPr algn="l"/>
                      <a:r>
                        <a:rPr sz="900" b="0">
                          <a:solidFill>
                            <a:srgbClr val="000000"/>
                          </a:solidFill>
                          <a:latin typeface="Times New Roman"/>
                        </a:rPr>
                        <a:t>A. Hagiu, J. Wright</a:t>
                      </a:r>
                    </a:p>
                  </a:txBody>
                  <a:tcPr anchor="ctr">
                    <a:solidFill>
                      <a:srgbClr val="E8F0FE"/>
                    </a:solidFill>
                  </a:tcPr>
                </a:tc>
                <a:tc>
                  <a:txBody>
                    <a:bodyPr wrap="square"/>
                    <a:lstStyle/>
                    <a:p>
                      <a:pPr algn="l"/>
                      <a:r>
                        <a:rPr sz="900" b="0">
                          <a:solidFill>
                            <a:srgbClr val="000000"/>
                          </a:solidFill>
                          <a:latin typeface="Times New Roman"/>
                        </a:rPr>
                        <a:t>Platform Economics, Network Effects</a:t>
                      </a:r>
                    </a:p>
                  </a:txBody>
                  <a:tcPr anchor="ctr">
                    <a:solidFill>
                      <a:srgbClr val="E8F0FE"/>
                    </a:solidFill>
                  </a:tcPr>
                </a:tc>
                <a:tc>
                  <a:txBody>
                    <a:bodyPr wrap="square"/>
                    <a:lstStyle/>
                    <a:p>
                      <a:pPr algn="l"/>
                      <a:r>
                        <a:rPr sz="900" b="0">
                          <a:solidFill>
                            <a:srgbClr val="000000"/>
                          </a:solidFill>
                          <a:latin typeface="Times New Roman"/>
                        </a:rPr>
                        <a:t>Analyzed design patterns enabling cross-side network effects in service marketplace platforms.</a:t>
                      </a:r>
                    </a:p>
                  </a:txBody>
                  <a:tcPr anchor="ctr">
                    <a:solidFill>
                      <a:srgbClr val="E8F0FE"/>
                    </a:solidFill>
                  </a:tcPr>
                </a:tc>
              </a:tr>
            </a:tbl>
          </a:graphicData>
        </a:graphic>
      </p:graphicFrame>
      <p:sp>
        <p:nvSpPr>
          <p:cNvPr id="5" name="TextBox 4"/>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00000" y="300000"/>
          <a:ext cx="11800000" cy="6200000"/>
        </p:xfrm>
        <a:graphic>
          <a:graphicData uri="http://schemas.openxmlformats.org/drawingml/2006/table">
            <a:tbl>
              <a:tblPr firstRow="1" bandRow="1">
                <a:tableStyleId>{5C22544A-7EE6-4342-B048-85BDC9FD1C3A}</a:tableStyleId>
              </a:tblPr>
              <a:tblGrid>
                <a:gridCol w="600000"/>
                <a:gridCol w="700000"/>
                <a:gridCol w="2800000"/>
                <a:gridCol w="2200000"/>
                <a:gridCol w="2400000"/>
                <a:gridCol w="3100000"/>
              </a:tblGrid>
              <a:tr h="1550000">
                <a:tc>
                  <a:txBody>
                    <a:bodyPr wrap="square"/>
                    <a:lstStyle/>
                    <a:p>
                      <a:pPr algn="ctr"/>
                      <a:r>
                        <a:rPr sz="1000" b="1">
                          <a:solidFill>
                            <a:srgbClr val="FFFFFF"/>
                          </a:solidFill>
                          <a:latin typeface="Times New Roman"/>
                        </a:rPr>
                        <a:t>S.NO</a:t>
                      </a:r>
                    </a:p>
                  </a:txBody>
                  <a:tcPr anchor="ctr">
                    <a:solidFill>
                      <a:srgbClr val="003266"/>
                    </a:solidFill>
                  </a:tcPr>
                </a:tc>
                <a:tc>
                  <a:txBody>
                    <a:bodyPr wrap="square"/>
                    <a:lstStyle/>
                    <a:p>
                      <a:pPr algn="ctr"/>
                      <a:r>
                        <a:rPr sz="1000" b="1">
                          <a:solidFill>
                            <a:srgbClr val="FFFFFF"/>
                          </a:solidFill>
                          <a:latin typeface="Times New Roman"/>
                        </a:rPr>
                        <a:t>YEAR</a:t>
                      </a:r>
                    </a:p>
                  </a:txBody>
                  <a:tcPr anchor="ctr">
                    <a:solidFill>
                      <a:srgbClr val="003266"/>
                    </a:solidFill>
                  </a:tcPr>
                </a:tc>
                <a:tc>
                  <a:txBody>
                    <a:bodyPr wrap="square"/>
                    <a:lstStyle/>
                    <a:p>
                      <a:pPr algn="ctr"/>
                      <a:r>
                        <a:rPr sz="1000" b="1">
                          <a:solidFill>
                            <a:srgbClr val="FFFFFF"/>
                          </a:solidFill>
                          <a:latin typeface="Times New Roman"/>
                        </a:rPr>
                        <a:t>TITLE</a:t>
                      </a:r>
                    </a:p>
                  </a:txBody>
                  <a:tcPr anchor="ctr">
                    <a:solidFill>
                      <a:srgbClr val="003266"/>
                    </a:solidFill>
                  </a:tcPr>
                </a:tc>
                <a:tc>
                  <a:txBody>
                    <a:bodyPr wrap="square"/>
                    <a:lstStyle/>
                    <a:p>
                      <a:pPr algn="ctr"/>
                      <a:r>
                        <a:rPr sz="1000" b="1">
                          <a:solidFill>
                            <a:srgbClr val="FFFFFF"/>
                          </a:solidFill>
                          <a:latin typeface="Times New Roman"/>
                        </a:rPr>
                        <a:t>AUTHORS</a:t>
                      </a:r>
                    </a:p>
                  </a:txBody>
                  <a:tcPr anchor="ctr">
                    <a:solidFill>
                      <a:srgbClr val="003266"/>
                    </a:solidFill>
                  </a:tcPr>
                </a:tc>
                <a:tc>
                  <a:txBody>
                    <a:bodyPr wrap="square"/>
                    <a:lstStyle/>
                    <a:p>
                      <a:pPr algn="ctr"/>
                      <a:r>
                        <a:rPr sz="1000" b="1">
                          <a:solidFill>
                            <a:srgbClr val="FFFFFF"/>
                          </a:solidFill>
                          <a:latin typeface="Times New Roman"/>
                        </a:rPr>
                        <a:t>TECHNOLOGY</a:t>
                      </a:r>
                    </a:p>
                  </a:txBody>
                  <a:tcPr anchor="ctr">
                    <a:solidFill>
                      <a:srgbClr val="003266"/>
                    </a:solidFill>
                  </a:tcPr>
                </a:tc>
                <a:tc>
                  <a:txBody>
                    <a:bodyPr wrap="square"/>
                    <a:lstStyle/>
                    <a:p>
                      <a:pPr algn="ctr"/>
                      <a:r>
                        <a:rPr sz="1000" b="1">
                          <a:solidFill>
                            <a:srgbClr val="FFFFFF"/>
                          </a:solidFill>
                          <a:latin typeface="Times New Roman"/>
                        </a:rPr>
                        <a:t>CONTRIBUTION</a:t>
                      </a:r>
                    </a:p>
                  </a:txBody>
                  <a:tcPr anchor="ctr">
                    <a:solidFill>
                      <a:srgbClr val="003266"/>
                    </a:solidFill>
                  </a:tcPr>
                </a:tc>
              </a:tr>
              <a:tr h="1550000">
                <a:tc>
                  <a:txBody>
                    <a:bodyPr wrap="square"/>
                    <a:lstStyle/>
                    <a:p>
                      <a:pPr algn="l"/>
                      <a:r>
                        <a:rPr sz="900" b="0">
                          <a:solidFill>
                            <a:srgbClr val="000000"/>
                          </a:solidFill>
                          <a:latin typeface="Times New Roman"/>
                        </a:rPr>
                        <a:t>4.</a:t>
                      </a:r>
                    </a:p>
                  </a:txBody>
                  <a:tcPr anchor="ctr">
                    <a:solidFill>
                      <a:srgbClr val="E8F0FE"/>
                    </a:solidFill>
                  </a:tcPr>
                </a:tc>
                <a:tc>
                  <a:txBody>
                    <a:bodyPr wrap="square"/>
                    <a:lstStyle/>
                    <a:p>
                      <a:pPr algn="l"/>
                      <a:r>
                        <a:rPr sz="900" b="0">
                          <a:solidFill>
                            <a:srgbClr val="000000"/>
                          </a:solidFill>
                          <a:latin typeface="Times New Roman"/>
                        </a:rPr>
                        <a:t>2022</a:t>
                      </a:r>
                    </a:p>
                  </a:txBody>
                  <a:tcPr anchor="ctr">
                    <a:solidFill>
                      <a:srgbClr val="E8F0FE"/>
                    </a:solidFill>
                  </a:tcPr>
                </a:tc>
                <a:tc>
                  <a:txBody>
                    <a:bodyPr wrap="square"/>
                    <a:lstStyle/>
                    <a:p>
                      <a:pPr algn="l"/>
                      <a:r>
                        <a:rPr sz="900" b="0">
                          <a:solidFill>
                            <a:srgbClr val="000000"/>
                          </a:solidFill>
                          <a:latin typeface="Times New Roman"/>
                        </a:rPr>
                        <a:t>Real-time communication in web applications using WebSockets and PostgreSQL</a:t>
                      </a:r>
                    </a:p>
                  </a:txBody>
                  <a:tcPr anchor="ctr">
                    <a:solidFill>
                      <a:srgbClr val="E8F0FE"/>
                    </a:solidFill>
                  </a:tcPr>
                </a:tc>
                <a:tc>
                  <a:txBody>
                    <a:bodyPr wrap="square"/>
                    <a:lstStyle/>
                    <a:p>
                      <a:pPr algn="l"/>
                      <a:r>
                        <a:rPr sz="900" b="0">
                          <a:solidFill>
                            <a:srgbClr val="000000"/>
                          </a:solidFill>
                          <a:latin typeface="Times New Roman"/>
                        </a:rPr>
                        <a:t>M. Chen, R. Kumar</a:t>
                      </a:r>
                    </a:p>
                  </a:txBody>
                  <a:tcPr anchor="ctr">
                    <a:solidFill>
                      <a:srgbClr val="E8F0FE"/>
                    </a:solidFill>
                  </a:tcPr>
                </a:tc>
                <a:tc>
                  <a:txBody>
                    <a:bodyPr wrap="square"/>
                    <a:lstStyle/>
                    <a:p>
                      <a:pPr algn="l"/>
                      <a:r>
                        <a:rPr sz="900" b="0">
                          <a:solidFill>
                            <a:srgbClr val="000000"/>
                          </a:solidFill>
                          <a:latin typeface="Times New Roman"/>
                        </a:rPr>
                        <a:t>WebSocket, pg_notify, Supabase Realtime</a:t>
                      </a:r>
                    </a:p>
                  </a:txBody>
                  <a:tcPr anchor="ctr">
                    <a:solidFill>
                      <a:srgbClr val="E8F0FE"/>
                    </a:solidFill>
                  </a:tcPr>
                </a:tc>
                <a:tc>
                  <a:txBody>
                    <a:bodyPr wrap="square"/>
                    <a:lstStyle/>
                    <a:p>
                      <a:pPr algn="l"/>
                      <a:r>
                        <a:rPr sz="900" b="0">
                          <a:solidFill>
                            <a:srgbClr val="000000"/>
                          </a:solidFill>
                          <a:latin typeface="Times New Roman"/>
                        </a:rPr>
                        <a:t>Implemented low-latency messaging for marketplace platforms using database-driven event broadcasting.</a:t>
                      </a:r>
                    </a:p>
                  </a:txBody>
                  <a:tcPr anchor="ctr">
                    <a:solidFill>
                      <a:srgbClr val="E8F0FE"/>
                    </a:solidFill>
                  </a:tcPr>
                </a:tc>
              </a:tr>
              <a:tr h="1550000">
                <a:tc>
                  <a:txBody>
                    <a:bodyPr wrap="square"/>
                    <a:lstStyle/>
                    <a:p>
                      <a:pPr algn="l"/>
                      <a:r>
                        <a:rPr sz="900" b="0">
                          <a:solidFill>
                            <a:srgbClr val="000000"/>
                          </a:solidFill>
                          <a:latin typeface="Times New Roman"/>
                        </a:rPr>
                        <a:t>5.</a:t>
                      </a:r>
                    </a:p>
                  </a:txBody>
                  <a:tcPr anchor="ctr">
                    <a:solidFill>
                      <a:srgbClr val="FFFFFF"/>
                    </a:solidFill>
                  </a:tcPr>
                </a:tc>
                <a:tc>
                  <a:txBody>
                    <a:bodyPr wrap="square"/>
                    <a:lstStyle/>
                    <a:p>
                      <a:pPr algn="l"/>
                      <a:r>
                        <a:rPr sz="900" b="0">
                          <a:solidFill>
                            <a:srgbClr val="000000"/>
                          </a:solidFill>
                          <a:latin typeface="Times New Roman"/>
                        </a:rPr>
                        <a:t>2021</a:t>
                      </a:r>
                    </a:p>
                  </a:txBody>
                  <a:tcPr anchor="ctr">
                    <a:solidFill>
                      <a:srgbClr val="FFFFFF"/>
                    </a:solidFill>
                  </a:tcPr>
                </a:tc>
                <a:tc>
                  <a:txBody>
                    <a:bodyPr wrap="square"/>
                    <a:lstStyle/>
                    <a:p>
                      <a:pPr algn="l"/>
                      <a:r>
                        <a:rPr sz="900" b="0">
                          <a:solidFill>
                            <a:srgbClr val="000000"/>
                          </a:solidFill>
                          <a:latin typeface="Times New Roman"/>
                        </a:rPr>
                        <a:t>Role-based access control patterns in modern web applications</a:t>
                      </a:r>
                    </a:p>
                  </a:txBody>
                  <a:tcPr anchor="ctr">
                    <a:solidFill>
                      <a:srgbClr val="FFFFFF"/>
                    </a:solidFill>
                  </a:tcPr>
                </a:tc>
                <a:tc>
                  <a:txBody>
                    <a:bodyPr wrap="square"/>
                    <a:lstStyle/>
                    <a:p>
                      <a:pPr algn="l"/>
                      <a:r>
                        <a:rPr sz="900" b="0">
                          <a:solidFill>
                            <a:srgbClr val="000000"/>
                          </a:solidFill>
                          <a:latin typeface="Times New Roman"/>
                        </a:rPr>
                        <a:t>S. Gupta, L. Fernandez</a:t>
                      </a:r>
                    </a:p>
                  </a:txBody>
                  <a:tcPr anchor="ctr">
                    <a:solidFill>
                      <a:srgbClr val="FFFFFF"/>
                    </a:solidFill>
                  </a:tcPr>
                </a:tc>
                <a:tc>
                  <a:txBody>
                    <a:bodyPr wrap="square"/>
                    <a:lstStyle/>
                    <a:p>
                      <a:pPr algn="l"/>
                      <a:r>
                        <a:rPr sz="900" b="0">
                          <a:solidFill>
                            <a:srgbClr val="000000"/>
                          </a:solidFill>
                          <a:latin typeface="Times New Roman"/>
                        </a:rPr>
                        <a:t>RBAC, JWT, Row-Level Security</a:t>
                      </a:r>
                    </a:p>
                  </a:txBody>
                  <a:tcPr anchor="ctr">
                    <a:solidFill>
                      <a:srgbClr val="FFFFFF"/>
                    </a:solidFill>
                  </a:tcPr>
                </a:tc>
                <a:tc>
                  <a:txBody>
                    <a:bodyPr wrap="square"/>
                    <a:lstStyle/>
                    <a:p>
                      <a:pPr algn="l"/>
                      <a:r>
                        <a:rPr sz="900" b="0">
                          <a:solidFill>
                            <a:srgbClr val="000000"/>
                          </a:solidFill>
                          <a:latin typeface="Times New Roman"/>
                        </a:rPr>
                        <a:t>Proposed RBAC enforcement at the database level using PostgreSQL policies for multi-role platforms.</a:t>
                      </a:r>
                    </a:p>
                  </a:txBody>
                  <a:tcPr anchor="ctr">
                    <a:solidFill>
                      <a:srgbClr val="FFFFFF"/>
                    </a:solidFill>
                  </a:tcPr>
                </a:tc>
              </a:tr>
              <a:tr h="1550000">
                <a:tc>
                  <a:txBody>
                    <a:bodyPr wrap="square"/>
                    <a:lstStyle/>
                    <a:p>
                      <a:pPr algn="l"/>
                      <a:r>
                        <a:rPr sz="900" b="0">
                          <a:solidFill>
                            <a:srgbClr val="000000"/>
                          </a:solidFill>
                          <a:latin typeface="Times New Roman"/>
                        </a:rPr>
                        <a:t>6.</a:t>
                      </a:r>
                    </a:p>
                  </a:txBody>
                  <a:tcPr anchor="ctr">
                    <a:solidFill>
                      <a:srgbClr val="E8F0FE"/>
                    </a:solidFill>
                  </a:tcPr>
                </a:tc>
                <a:tc>
                  <a:txBody>
                    <a:bodyPr wrap="square"/>
                    <a:lstStyle/>
                    <a:p>
                      <a:pPr algn="l"/>
                      <a:r>
                        <a:rPr sz="900" b="0">
                          <a:solidFill>
                            <a:srgbClr val="000000"/>
                          </a:solidFill>
                          <a:latin typeface="Times New Roman"/>
                        </a:rPr>
                        <a:t>2023</a:t>
                      </a:r>
                    </a:p>
                  </a:txBody>
                  <a:tcPr anchor="ctr">
                    <a:solidFill>
                      <a:srgbClr val="E8F0FE"/>
                    </a:solidFill>
                  </a:tcPr>
                </a:tc>
                <a:tc>
                  <a:txBody>
                    <a:bodyPr wrap="square"/>
                    <a:lstStyle/>
                    <a:p>
                      <a:pPr algn="l"/>
                      <a:r>
                        <a:rPr sz="900" b="0">
                          <a:solidFill>
                            <a:srgbClr val="000000"/>
                          </a:solidFill>
                          <a:latin typeface="Times New Roman"/>
                        </a:rPr>
                        <a:t>Responsive design systems using utility-first CSS frameworks</a:t>
                      </a:r>
                    </a:p>
                  </a:txBody>
                  <a:tcPr anchor="ctr">
                    <a:solidFill>
                      <a:srgbClr val="E8F0FE"/>
                    </a:solidFill>
                  </a:tcPr>
                </a:tc>
                <a:tc>
                  <a:txBody>
                    <a:bodyPr wrap="square"/>
                    <a:lstStyle/>
                    <a:p>
                      <a:pPr algn="l"/>
                      <a:r>
                        <a:rPr sz="900" b="0">
                          <a:solidFill>
                            <a:srgbClr val="000000"/>
                          </a:solidFill>
                          <a:latin typeface="Times New Roman"/>
                        </a:rPr>
                        <a:t>A. Wathan, S. Schoger</a:t>
                      </a:r>
                    </a:p>
                  </a:txBody>
                  <a:tcPr anchor="ctr">
                    <a:solidFill>
                      <a:srgbClr val="E8F0FE"/>
                    </a:solidFill>
                  </a:tcPr>
                </a:tc>
                <a:tc>
                  <a:txBody>
                    <a:bodyPr wrap="square"/>
                    <a:lstStyle/>
                    <a:p>
                      <a:pPr algn="l"/>
                      <a:r>
                        <a:rPr sz="900" b="0">
                          <a:solidFill>
                            <a:srgbClr val="000000"/>
                          </a:solidFill>
                          <a:latin typeface="Times New Roman"/>
                        </a:rPr>
                        <a:t>Tailwind CSS, Design Tokens</a:t>
                      </a:r>
                    </a:p>
                  </a:txBody>
                  <a:tcPr anchor="ctr">
                    <a:solidFill>
                      <a:srgbClr val="E8F0FE"/>
                    </a:solidFill>
                  </a:tcPr>
                </a:tc>
                <a:tc>
                  <a:txBody>
                    <a:bodyPr wrap="square"/>
                    <a:lstStyle/>
                    <a:p>
                      <a:pPr algn="l"/>
                      <a:r>
                        <a:rPr sz="900" b="0">
                          <a:solidFill>
                            <a:srgbClr val="000000"/>
                          </a:solidFill>
                          <a:latin typeface="Times New Roman"/>
                        </a:rPr>
                        <a:t>Established utility-first CSS as scalable approach for maintaining design consistency across complex UIs.</a:t>
                      </a:r>
                    </a:p>
                  </a:txBody>
                  <a:tcPr anchor="ctr">
                    <a:solidFill>
                      <a:srgbClr val="E8F0FE"/>
                    </a:solidFill>
                  </a:tcPr>
                </a:tc>
              </a:tr>
            </a:tbl>
          </a:graphicData>
        </a:graphic>
      </p:graphicFrame>
      <p:sp>
        <p:nvSpPr>
          <p:cNvPr id="5" name="TextBox 4"/>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00000" y="300000"/>
          <a:ext cx="11800000" cy="6200000"/>
        </p:xfrm>
        <a:graphic>
          <a:graphicData uri="http://schemas.openxmlformats.org/drawingml/2006/table">
            <a:tbl>
              <a:tblPr firstRow="1" bandRow="1">
                <a:tableStyleId>{5C22544A-7EE6-4342-B048-85BDC9FD1C3A}</a:tableStyleId>
              </a:tblPr>
              <a:tblGrid>
                <a:gridCol w="600000"/>
                <a:gridCol w="700000"/>
                <a:gridCol w="2800000"/>
                <a:gridCol w="2200000"/>
                <a:gridCol w="2400000"/>
                <a:gridCol w="3100000"/>
              </a:tblGrid>
              <a:tr h="1550000">
                <a:tc>
                  <a:txBody>
                    <a:bodyPr wrap="square"/>
                    <a:lstStyle/>
                    <a:p>
                      <a:pPr algn="ctr"/>
                      <a:r>
                        <a:rPr sz="1000" b="1">
                          <a:solidFill>
                            <a:srgbClr val="FFFFFF"/>
                          </a:solidFill>
                          <a:latin typeface="Times New Roman"/>
                        </a:rPr>
                        <a:t>S.NO</a:t>
                      </a:r>
                    </a:p>
                  </a:txBody>
                  <a:tcPr anchor="ctr">
                    <a:solidFill>
                      <a:srgbClr val="003266"/>
                    </a:solidFill>
                  </a:tcPr>
                </a:tc>
                <a:tc>
                  <a:txBody>
                    <a:bodyPr wrap="square"/>
                    <a:lstStyle/>
                    <a:p>
                      <a:pPr algn="ctr"/>
                      <a:r>
                        <a:rPr sz="1000" b="1">
                          <a:solidFill>
                            <a:srgbClr val="FFFFFF"/>
                          </a:solidFill>
                          <a:latin typeface="Times New Roman"/>
                        </a:rPr>
                        <a:t>YEAR</a:t>
                      </a:r>
                    </a:p>
                  </a:txBody>
                  <a:tcPr anchor="ctr">
                    <a:solidFill>
                      <a:srgbClr val="003266"/>
                    </a:solidFill>
                  </a:tcPr>
                </a:tc>
                <a:tc>
                  <a:txBody>
                    <a:bodyPr wrap="square"/>
                    <a:lstStyle/>
                    <a:p>
                      <a:pPr algn="ctr"/>
                      <a:r>
                        <a:rPr sz="1000" b="1">
                          <a:solidFill>
                            <a:srgbClr val="FFFFFF"/>
                          </a:solidFill>
                          <a:latin typeface="Times New Roman"/>
                        </a:rPr>
                        <a:t>TITLE</a:t>
                      </a:r>
                    </a:p>
                  </a:txBody>
                  <a:tcPr anchor="ctr">
                    <a:solidFill>
                      <a:srgbClr val="003266"/>
                    </a:solidFill>
                  </a:tcPr>
                </a:tc>
                <a:tc>
                  <a:txBody>
                    <a:bodyPr wrap="square"/>
                    <a:lstStyle/>
                    <a:p>
                      <a:pPr algn="ctr"/>
                      <a:r>
                        <a:rPr sz="1000" b="1">
                          <a:solidFill>
                            <a:srgbClr val="FFFFFF"/>
                          </a:solidFill>
                          <a:latin typeface="Times New Roman"/>
                        </a:rPr>
                        <a:t>AUTHORS</a:t>
                      </a:r>
                    </a:p>
                  </a:txBody>
                  <a:tcPr anchor="ctr">
                    <a:solidFill>
                      <a:srgbClr val="003266"/>
                    </a:solidFill>
                  </a:tcPr>
                </a:tc>
                <a:tc>
                  <a:txBody>
                    <a:bodyPr wrap="square"/>
                    <a:lstStyle/>
                    <a:p>
                      <a:pPr algn="ctr"/>
                      <a:r>
                        <a:rPr sz="1000" b="1">
                          <a:solidFill>
                            <a:srgbClr val="FFFFFF"/>
                          </a:solidFill>
                          <a:latin typeface="Times New Roman"/>
                        </a:rPr>
                        <a:t>TECHNOLOGY</a:t>
                      </a:r>
                    </a:p>
                  </a:txBody>
                  <a:tcPr anchor="ctr">
                    <a:solidFill>
                      <a:srgbClr val="003266"/>
                    </a:solidFill>
                  </a:tcPr>
                </a:tc>
                <a:tc>
                  <a:txBody>
                    <a:bodyPr wrap="square"/>
                    <a:lstStyle/>
                    <a:p>
                      <a:pPr algn="ctr"/>
                      <a:r>
                        <a:rPr sz="1000" b="1">
                          <a:solidFill>
                            <a:srgbClr val="FFFFFF"/>
                          </a:solidFill>
                          <a:latin typeface="Times New Roman"/>
                        </a:rPr>
                        <a:t>CONTRIBUTION</a:t>
                      </a:r>
                    </a:p>
                  </a:txBody>
                  <a:tcPr anchor="ctr">
                    <a:solidFill>
                      <a:srgbClr val="003266"/>
                    </a:solidFill>
                  </a:tcPr>
                </a:tc>
              </a:tr>
              <a:tr h="1550000">
                <a:tc>
                  <a:txBody>
                    <a:bodyPr wrap="square"/>
                    <a:lstStyle/>
                    <a:p>
                      <a:pPr algn="l"/>
                      <a:r>
                        <a:rPr sz="900" b="0">
                          <a:solidFill>
                            <a:srgbClr val="000000"/>
                          </a:solidFill>
                          <a:latin typeface="Times New Roman"/>
                        </a:rPr>
                        <a:t>7.</a:t>
                      </a:r>
                    </a:p>
                  </a:txBody>
                  <a:tcPr anchor="ctr">
                    <a:solidFill>
                      <a:srgbClr val="E8F0FE"/>
                    </a:solidFill>
                  </a:tcPr>
                </a:tc>
                <a:tc>
                  <a:txBody>
                    <a:bodyPr wrap="square"/>
                    <a:lstStyle/>
                    <a:p>
                      <a:pPr algn="l"/>
                      <a:r>
                        <a:rPr sz="900" b="0">
                          <a:solidFill>
                            <a:srgbClr val="000000"/>
                          </a:solidFill>
                          <a:latin typeface="Times New Roman"/>
                        </a:rPr>
                        <a:t>2022</a:t>
                      </a:r>
                    </a:p>
                  </a:txBody>
                  <a:tcPr anchor="ctr">
                    <a:solidFill>
                      <a:srgbClr val="E8F0FE"/>
                    </a:solidFill>
                  </a:tcPr>
                </a:tc>
                <a:tc>
                  <a:txBody>
                    <a:bodyPr wrap="square"/>
                    <a:lstStyle/>
                    <a:p>
                      <a:pPr algn="l"/>
                      <a:r>
                        <a:rPr sz="900" b="0">
                          <a:solidFill>
                            <a:srgbClr val="000000"/>
                          </a:solidFill>
                          <a:latin typeface="Times New Roman"/>
                        </a:rPr>
                        <a:t>Event management platform architectures: A comparative study</a:t>
                      </a:r>
                    </a:p>
                  </a:txBody>
                  <a:tcPr anchor="ctr">
                    <a:solidFill>
                      <a:srgbClr val="E8F0FE"/>
                    </a:solidFill>
                  </a:tcPr>
                </a:tc>
                <a:tc>
                  <a:txBody>
                    <a:bodyPr wrap="square"/>
                    <a:lstStyle/>
                    <a:p>
                      <a:pPr algn="l"/>
                      <a:r>
                        <a:rPr sz="900" b="0">
                          <a:solidFill>
                            <a:srgbClr val="000000"/>
                          </a:solidFill>
                          <a:latin typeface="Times New Roman"/>
                        </a:rPr>
                        <a:t>R. Patel, D. Sharma</a:t>
                      </a:r>
                    </a:p>
                  </a:txBody>
                  <a:tcPr anchor="ctr">
                    <a:solidFill>
                      <a:srgbClr val="E8F0FE"/>
                    </a:solidFill>
                  </a:tcPr>
                </a:tc>
                <a:tc>
                  <a:txBody>
                    <a:bodyPr wrap="square"/>
                    <a:lstStyle/>
                    <a:p>
                      <a:pPr algn="l"/>
                      <a:r>
                        <a:rPr sz="900" b="0">
                          <a:solidFill>
                            <a:srgbClr val="000000"/>
                          </a:solidFill>
                          <a:latin typeface="Times New Roman"/>
                        </a:rPr>
                        <a:t>Microservices, Modular Monolith</a:t>
                      </a:r>
                    </a:p>
                  </a:txBody>
                  <a:tcPr anchor="ctr">
                    <a:solidFill>
                      <a:srgbClr val="E8F0FE"/>
                    </a:solidFill>
                  </a:tcPr>
                </a:tc>
                <a:tc>
                  <a:txBody>
                    <a:bodyPr wrap="square"/>
                    <a:lstStyle/>
                    <a:p>
                      <a:pPr algn="l"/>
                      <a:r>
                        <a:rPr sz="900" b="0">
                          <a:solidFill>
                            <a:srgbClr val="000000"/>
                          </a:solidFill>
                          <a:latin typeface="Times New Roman"/>
                        </a:rPr>
                        <a:t>Compared architectural approaches for event service platforms and recommended modular monolith for MVPs.</a:t>
                      </a:r>
                    </a:p>
                  </a:txBody>
                  <a:tcPr anchor="ctr">
                    <a:solidFill>
                      <a:srgbClr val="E8F0FE"/>
                    </a:solidFill>
                  </a:tcPr>
                </a:tc>
              </a:tr>
              <a:tr h="1550000">
                <a:tc>
                  <a:txBody>
                    <a:bodyPr wrap="square"/>
                    <a:lstStyle/>
                    <a:p>
                      <a:pPr algn="l"/>
                      <a:r>
                        <a:rPr sz="900" b="0">
                          <a:solidFill>
                            <a:srgbClr val="000000"/>
                          </a:solidFill>
                          <a:latin typeface="Times New Roman"/>
                        </a:rPr>
                        <a:t>8.</a:t>
                      </a:r>
                    </a:p>
                  </a:txBody>
                  <a:tcPr anchor="ctr">
                    <a:solidFill>
                      <a:srgbClr val="FFFFFF"/>
                    </a:solidFill>
                  </a:tcPr>
                </a:tc>
                <a:tc>
                  <a:txBody>
                    <a:bodyPr wrap="square"/>
                    <a:lstStyle/>
                    <a:p>
                      <a:pPr algn="l"/>
                      <a:r>
                        <a:rPr sz="900" b="0">
                          <a:solidFill>
                            <a:srgbClr val="000000"/>
                          </a:solidFill>
                          <a:latin typeface="Times New Roman"/>
                        </a:rPr>
                        <a:t>2023</a:t>
                      </a:r>
                    </a:p>
                  </a:txBody>
                  <a:tcPr anchor="ctr">
                    <a:solidFill>
                      <a:srgbClr val="FFFFFF"/>
                    </a:solidFill>
                  </a:tcPr>
                </a:tc>
                <a:tc>
                  <a:txBody>
                    <a:bodyPr wrap="square"/>
                    <a:lstStyle/>
                    <a:p>
                      <a:pPr algn="l"/>
                      <a:r>
                        <a:rPr sz="900" b="0">
                          <a:solidFill>
                            <a:srgbClr val="000000"/>
                          </a:solidFill>
                          <a:latin typeface="Times New Roman"/>
                        </a:rPr>
                        <a:t>Type-safe full-stack development with TypeScript and Zod</a:t>
                      </a:r>
                    </a:p>
                  </a:txBody>
                  <a:tcPr anchor="ctr">
                    <a:solidFill>
                      <a:srgbClr val="FFFFFF"/>
                    </a:solidFill>
                  </a:tcPr>
                </a:tc>
                <a:tc>
                  <a:txBody>
                    <a:bodyPr wrap="square"/>
                    <a:lstStyle/>
                    <a:p>
                      <a:pPr algn="l"/>
                      <a:r>
                        <a:rPr sz="900" b="0">
                          <a:solidFill>
                            <a:srgbClr val="000000"/>
                          </a:solidFill>
                          <a:latin typeface="Times New Roman"/>
                        </a:rPr>
                        <a:t>C. Buerke, K. Dodds</a:t>
                      </a:r>
                    </a:p>
                  </a:txBody>
                  <a:tcPr anchor="ctr">
                    <a:solidFill>
                      <a:srgbClr val="FFFFFF"/>
                    </a:solidFill>
                  </a:tcPr>
                </a:tc>
                <a:tc>
                  <a:txBody>
                    <a:bodyPr wrap="square"/>
                    <a:lstStyle/>
                    <a:p>
                      <a:pPr algn="l"/>
                      <a:r>
                        <a:rPr sz="900" b="0">
                          <a:solidFill>
                            <a:srgbClr val="000000"/>
                          </a:solidFill>
                          <a:latin typeface="Times New Roman"/>
                        </a:rPr>
                        <a:t>TypeScript, Zod, React Hook Form</a:t>
                      </a:r>
                    </a:p>
                  </a:txBody>
                  <a:tcPr anchor="ctr">
                    <a:solidFill>
                      <a:srgbClr val="FFFFFF"/>
                    </a:solidFill>
                  </a:tcPr>
                </a:tc>
                <a:tc>
                  <a:txBody>
                    <a:bodyPr wrap="square"/>
                    <a:lstStyle/>
                    <a:p>
                      <a:pPr algn="l"/>
                      <a:r>
                        <a:rPr sz="900" b="0">
                          <a:solidFill>
                            <a:srgbClr val="000000"/>
                          </a:solidFill>
                          <a:latin typeface="Times New Roman"/>
                        </a:rPr>
                        <a:t>Demonstrated end-to-end type safety from database schema to form validation in modern web stacks.</a:t>
                      </a:r>
                    </a:p>
                  </a:txBody>
                  <a:tcPr anchor="ctr">
                    <a:solidFill>
                      <a:srgbClr val="FFFFFF"/>
                    </a:solidFill>
                  </a:tcPr>
                </a:tc>
              </a:tr>
              <a:tr h="1550000">
                <a:tc>
                  <a:txBody>
                    <a:bodyPr wrap="square"/>
                    <a:lstStyle/>
                    <a:p>
                      <a:pPr algn="l"/>
                      <a:r>
                        <a:rPr sz="900" b="0">
                          <a:solidFill>
                            <a:srgbClr val="000000"/>
                          </a:solidFill>
                          <a:latin typeface="Times New Roman"/>
                        </a:rPr>
                        <a:t>9.</a:t>
                      </a:r>
                    </a:p>
                  </a:txBody>
                  <a:tcPr anchor="ctr">
                    <a:solidFill>
                      <a:srgbClr val="E8F0FE"/>
                    </a:solidFill>
                  </a:tcPr>
                </a:tc>
                <a:tc>
                  <a:txBody>
                    <a:bodyPr wrap="square"/>
                    <a:lstStyle/>
                    <a:p>
                      <a:pPr algn="l"/>
                      <a:r>
                        <a:rPr sz="900" b="0">
                          <a:solidFill>
                            <a:srgbClr val="000000"/>
                          </a:solidFill>
                          <a:latin typeface="Times New Roman"/>
                        </a:rPr>
                        <a:t>2022</a:t>
                      </a:r>
                    </a:p>
                  </a:txBody>
                  <a:tcPr anchor="ctr">
                    <a:solidFill>
                      <a:srgbClr val="E8F0FE"/>
                    </a:solidFill>
                  </a:tcPr>
                </a:tc>
                <a:tc>
                  <a:txBody>
                    <a:bodyPr wrap="square"/>
                    <a:lstStyle/>
                    <a:p>
                      <a:pPr algn="l"/>
                      <a:r>
                        <a:rPr sz="900" b="0">
                          <a:solidFill>
                            <a:srgbClr val="000000"/>
                          </a:solidFill>
                          <a:latin typeface="Times New Roman"/>
                        </a:rPr>
                        <a:t>Inventory management and double-booking prevention in rental platforms</a:t>
                      </a:r>
                    </a:p>
                  </a:txBody>
                  <a:tcPr anchor="ctr">
                    <a:solidFill>
                      <a:srgbClr val="E8F0FE"/>
                    </a:solidFill>
                  </a:tcPr>
                </a:tc>
                <a:tc>
                  <a:txBody>
                    <a:bodyPr wrap="square"/>
                    <a:lstStyle/>
                    <a:p>
                      <a:pPr algn="l"/>
                      <a:r>
                        <a:rPr sz="900" b="0">
                          <a:solidFill>
                            <a:srgbClr val="000000"/>
                          </a:solidFill>
                          <a:latin typeface="Times New Roman"/>
                        </a:rPr>
                        <a:t>J. Liu, W. Zhang</a:t>
                      </a:r>
                    </a:p>
                  </a:txBody>
                  <a:tcPr anchor="ctr">
                    <a:solidFill>
                      <a:srgbClr val="E8F0FE"/>
                    </a:solidFill>
                  </a:tcPr>
                </a:tc>
                <a:tc>
                  <a:txBody>
                    <a:bodyPr wrap="square"/>
                    <a:lstStyle/>
                    <a:p>
                      <a:pPr algn="l"/>
                      <a:r>
                        <a:rPr sz="900" b="0">
                          <a:solidFill>
                            <a:srgbClr val="000000"/>
                          </a:solidFill>
                          <a:latin typeface="Times New Roman"/>
                        </a:rPr>
                        <a:t>Optimistic Locking, DB Constraints</a:t>
                      </a:r>
                    </a:p>
                  </a:txBody>
                  <a:tcPr anchor="ctr">
                    <a:solidFill>
                      <a:srgbClr val="E8F0FE"/>
                    </a:solidFill>
                  </a:tcPr>
                </a:tc>
                <a:tc>
                  <a:txBody>
                    <a:bodyPr wrap="square"/>
                    <a:lstStyle/>
                    <a:p>
                      <a:pPr algn="l"/>
                      <a:r>
                        <a:rPr sz="900" b="0">
                          <a:solidFill>
                            <a:srgbClr val="000000"/>
                          </a:solidFill>
                          <a:latin typeface="Times New Roman"/>
                        </a:rPr>
                        <a:t>Designed conflict-free inventory reservation using database-level constraints and transactional checks.</a:t>
                      </a:r>
                    </a:p>
                  </a:txBody>
                  <a:tcPr anchor="ctr">
                    <a:solidFill>
                      <a:srgbClr val="E8F0FE"/>
                    </a:solidFill>
                  </a:tcPr>
                </a:tc>
              </a:tr>
            </a:tbl>
          </a:graphicData>
        </a:graphic>
      </p:graphicFrame>
      <p:sp>
        <p:nvSpPr>
          <p:cNvPr id="5" name="TextBox 4"/>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00000" y="300000"/>
          <a:ext cx="11800000" cy="3000000"/>
        </p:xfrm>
        <a:graphic>
          <a:graphicData uri="http://schemas.openxmlformats.org/drawingml/2006/table">
            <a:tbl>
              <a:tblPr firstRow="1" bandRow="1">
                <a:tableStyleId>{5C22544A-7EE6-4342-B048-85BDC9FD1C3A}</a:tableStyleId>
              </a:tblPr>
              <a:tblGrid>
                <a:gridCol w="600000"/>
                <a:gridCol w="700000"/>
                <a:gridCol w="2800000"/>
                <a:gridCol w="2200000"/>
                <a:gridCol w="2400000"/>
                <a:gridCol w="3100000"/>
              </a:tblGrid>
              <a:tr h="1500000">
                <a:tc>
                  <a:txBody>
                    <a:bodyPr wrap="square"/>
                    <a:lstStyle/>
                    <a:p>
                      <a:pPr algn="ctr"/>
                      <a:r>
                        <a:rPr sz="1000" b="1">
                          <a:solidFill>
                            <a:srgbClr val="FFFFFF"/>
                          </a:solidFill>
                          <a:latin typeface="Times New Roman"/>
                        </a:rPr>
                        <a:t>S.NO</a:t>
                      </a:r>
                    </a:p>
                  </a:txBody>
                  <a:tcPr anchor="ctr">
                    <a:solidFill>
                      <a:srgbClr val="003266"/>
                    </a:solidFill>
                  </a:tcPr>
                </a:tc>
                <a:tc>
                  <a:txBody>
                    <a:bodyPr wrap="square"/>
                    <a:lstStyle/>
                    <a:p>
                      <a:pPr algn="ctr"/>
                      <a:r>
                        <a:rPr sz="1000" b="1">
                          <a:solidFill>
                            <a:srgbClr val="FFFFFF"/>
                          </a:solidFill>
                          <a:latin typeface="Times New Roman"/>
                        </a:rPr>
                        <a:t>YEAR</a:t>
                      </a:r>
                    </a:p>
                  </a:txBody>
                  <a:tcPr anchor="ctr">
                    <a:solidFill>
                      <a:srgbClr val="003266"/>
                    </a:solidFill>
                  </a:tcPr>
                </a:tc>
                <a:tc>
                  <a:txBody>
                    <a:bodyPr wrap="square"/>
                    <a:lstStyle/>
                    <a:p>
                      <a:pPr algn="ctr"/>
                      <a:r>
                        <a:rPr sz="1000" b="1">
                          <a:solidFill>
                            <a:srgbClr val="FFFFFF"/>
                          </a:solidFill>
                          <a:latin typeface="Times New Roman"/>
                        </a:rPr>
                        <a:t>TITLE</a:t>
                      </a:r>
                    </a:p>
                  </a:txBody>
                  <a:tcPr anchor="ctr">
                    <a:solidFill>
                      <a:srgbClr val="003266"/>
                    </a:solidFill>
                  </a:tcPr>
                </a:tc>
                <a:tc>
                  <a:txBody>
                    <a:bodyPr wrap="square"/>
                    <a:lstStyle/>
                    <a:p>
                      <a:pPr algn="ctr"/>
                      <a:r>
                        <a:rPr sz="1000" b="1">
                          <a:solidFill>
                            <a:srgbClr val="FFFFFF"/>
                          </a:solidFill>
                          <a:latin typeface="Times New Roman"/>
                        </a:rPr>
                        <a:t>AUTHORS</a:t>
                      </a:r>
                    </a:p>
                  </a:txBody>
                  <a:tcPr anchor="ctr">
                    <a:solidFill>
                      <a:srgbClr val="003266"/>
                    </a:solidFill>
                  </a:tcPr>
                </a:tc>
                <a:tc>
                  <a:txBody>
                    <a:bodyPr wrap="square"/>
                    <a:lstStyle/>
                    <a:p>
                      <a:pPr algn="ctr"/>
                      <a:r>
                        <a:rPr sz="1000" b="1">
                          <a:solidFill>
                            <a:srgbClr val="FFFFFF"/>
                          </a:solidFill>
                          <a:latin typeface="Times New Roman"/>
                        </a:rPr>
                        <a:t>TECHNOLOGY</a:t>
                      </a:r>
                    </a:p>
                  </a:txBody>
                  <a:tcPr anchor="ctr">
                    <a:solidFill>
                      <a:srgbClr val="003266"/>
                    </a:solidFill>
                  </a:tcPr>
                </a:tc>
                <a:tc>
                  <a:txBody>
                    <a:bodyPr wrap="square"/>
                    <a:lstStyle/>
                    <a:p>
                      <a:pPr algn="ctr"/>
                      <a:r>
                        <a:rPr sz="1000" b="1">
                          <a:solidFill>
                            <a:srgbClr val="FFFFFF"/>
                          </a:solidFill>
                          <a:latin typeface="Times New Roman"/>
                        </a:rPr>
                        <a:t>CONTRIBUTION</a:t>
                      </a:r>
                    </a:p>
                  </a:txBody>
                  <a:tcPr anchor="ctr">
                    <a:solidFill>
                      <a:srgbClr val="003266"/>
                    </a:solidFill>
                  </a:tcPr>
                </a:tc>
              </a:tr>
              <a:tr h="1500000">
                <a:tc>
                  <a:txBody>
                    <a:bodyPr wrap="square"/>
                    <a:lstStyle/>
                    <a:p>
                      <a:pPr algn="l"/>
                      <a:r>
                        <a:rPr sz="900" b="0">
                          <a:solidFill>
                            <a:srgbClr val="000000"/>
                          </a:solidFill>
                          <a:latin typeface="Times New Roman"/>
                        </a:rPr>
                        <a:t>10.</a:t>
                      </a:r>
                    </a:p>
                  </a:txBody>
                  <a:tcPr anchor="ctr">
                    <a:solidFill>
                      <a:srgbClr val="E8F0FE"/>
                    </a:solidFill>
                  </a:tcPr>
                </a:tc>
                <a:tc>
                  <a:txBody>
                    <a:bodyPr wrap="square"/>
                    <a:lstStyle/>
                    <a:p>
                      <a:pPr algn="l"/>
                      <a:r>
                        <a:rPr sz="900" b="0">
                          <a:solidFill>
                            <a:srgbClr val="000000"/>
                          </a:solidFill>
                          <a:latin typeface="Times New Roman"/>
                        </a:rPr>
                        <a:t>2023</a:t>
                      </a:r>
                    </a:p>
                  </a:txBody>
                  <a:tcPr anchor="ctr">
                    <a:solidFill>
                      <a:srgbClr val="E8F0FE"/>
                    </a:solidFill>
                  </a:tcPr>
                </a:tc>
                <a:tc>
                  <a:txBody>
                    <a:bodyPr wrap="square"/>
                    <a:lstStyle/>
                    <a:p>
                      <a:pPr algn="l"/>
                      <a:r>
                        <a:rPr sz="900" b="0">
                          <a:solidFill>
                            <a:srgbClr val="000000"/>
                          </a:solidFill>
                          <a:latin typeface="Times New Roman"/>
                        </a:rPr>
                        <a:t>Proposal versioning and contract management in B2B service platforms</a:t>
                      </a:r>
                    </a:p>
                  </a:txBody>
                  <a:tcPr anchor="ctr">
                    <a:solidFill>
                      <a:srgbClr val="E8F0FE"/>
                    </a:solidFill>
                  </a:tcPr>
                </a:tc>
                <a:tc>
                  <a:txBody>
                    <a:bodyPr wrap="square"/>
                    <a:lstStyle/>
                    <a:p>
                      <a:pPr algn="l"/>
                      <a:r>
                        <a:rPr sz="900" b="0">
                          <a:solidFill>
                            <a:srgbClr val="000000"/>
                          </a:solidFill>
                          <a:latin typeface="Times New Roman"/>
                        </a:rPr>
                        <a:t>K. Singh, N. Rao</a:t>
                      </a:r>
                    </a:p>
                  </a:txBody>
                  <a:tcPr anchor="ctr">
                    <a:solidFill>
                      <a:srgbClr val="E8F0FE"/>
                    </a:solidFill>
                  </a:tcPr>
                </a:tc>
                <a:tc>
                  <a:txBody>
                    <a:bodyPr wrap="square"/>
                    <a:lstStyle/>
                    <a:p>
                      <a:pPr algn="l"/>
                      <a:r>
                        <a:rPr sz="900" b="0">
                          <a:solidFill>
                            <a:srgbClr val="000000"/>
                          </a:solidFill>
                          <a:latin typeface="Times New Roman"/>
                        </a:rPr>
                        <a:t>Version Control, State Machines</a:t>
                      </a:r>
                    </a:p>
                  </a:txBody>
                  <a:tcPr anchor="ctr">
                    <a:solidFill>
                      <a:srgbClr val="E8F0FE"/>
                    </a:solidFill>
                  </a:tcPr>
                </a:tc>
                <a:tc>
                  <a:txBody>
                    <a:bodyPr wrap="square"/>
                    <a:lstStyle/>
                    <a:p>
                      <a:pPr algn="l"/>
                      <a:r>
                        <a:rPr sz="900" b="0">
                          <a:solidFill>
                            <a:srgbClr val="000000"/>
                          </a:solidFill>
                          <a:latin typeface="Times New Roman"/>
                        </a:rPr>
                        <a:t>Implemented proposal versioning workflows ensuring mutual agreement before booking confirmation.</a:t>
                      </a:r>
                    </a:p>
                  </a:txBody>
                  <a:tcPr anchor="ctr">
                    <a:solidFill>
                      <a:srgbClr val="E8F0FE"/>
                    </a:solidFill>
                  </a:tcPr>
                </a:tc>
              </a:tr>
            </a:tbl>
          </a:graphicData>
        </a:graphic>
      </p:graphicFrame>
      <p:sp>
        <p:nvSpPr>
          <p:cNvPr id="5" name="TextBox 4"/>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Existing System</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10</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400" b="0">
                <a:solidFill>
                  <a:srgbClr val="1A1A2E"/>
                </a:solidFill>
                <a:latin typeface="Times New Roman"/>
              </a:rPr>
              <a:t>•  Event service coordination is typically handled through fragmented channels — phone calls, WhatsApp messages, and manual spreadsheets.</a:t>
            </a:r>
          </a:p>
          <a:p>
            <a:pPr algn="l"/>
            <a:r>
              <a:rPr sz="1400" b="0">
                <a:solidFill>
                  <a:srgbClr val="1A1A2E"/>
                </a:solidFill>
                <a:latin typeface="Times New Roman"/>
              </a:rPr>
              <a:t/>
            </a:r>
          </a:p>
          <a:p>
            <a:pPr algn="l"/>
            <a:r>
              <a:rPr sz="1400" b="0">
                <a:solidFill>
                  <a:srgbClr val="1A1A2E"/>
                </a:solidFill>
                <a:latin typeface="Times New Roman"/>
              </a:rPr>
              <a:t>•  Customers must contact multiple vendors separately to compare packages, negotiate pricing, and confirm availability.</a:t>
            </a:r>
          </a:p>
          <a:p>
            <a:pPr algn="l"/>
            <a:r>
              <a:rPr sz="1400" b="0">
                <a:solidFill>
                  <a:srgbClr val="1A1A2E"/>
                </a:solidFill>
                <a:latin typeface="Times New Roman"/>
              </a:rPr>
              <a:t/>
            </a:r>
          </a:p>
          <a:p>
            <a:pPr algn="l"/>
            <a:r>
              <a:rPr sz="1400" b="0">
                <a:solidFill>
                  <a:srgbClr val="1A1A2E"/>
                </a:solidFill>
                <a:latin typeface="Times New Roman"/>
              </a:rPr>
              <a:t>•  No centralized platform exists that combines event organizer booking, independent worker hiring, and equipment rental management.</a:t>
            </a:r>
          </a:p>
          <a:p>
            <a:pPr algn="l"/>
            <a:r>
              <a:rPr sz="1400" b="0">
                <a:solidFill>
                  <a:srgbClr val="1A1A2E"/>
                </a:solidFill>
                <a:latin typeface="Times New Roman"/>
              </a:rPr>
              <a:t/>
            </a:r>
          </a:p>
          <a:p>
            <a:pPr algn="l"/>
            <a:r>
              <a:rPr sz="1400" b="0">
                <a:solidFill>
                  <a:srgbClr val="1A1A2E"/>
                </a:solidFill>
                <a:latin typeface="Times New Roman"/>
              </a:rPr>
              <a:t>•  Workforce hiring for catering events relies on personal networks and informal agreements, leading to unreliable staffing.</a:t>
            </a:r>
          </a:p>
          <a:p>
            <a:pPr algn="l"/>
            <a:r>
              <a:rPr sz="1400" b="0">
                <a:solidFill>
                  <a:srgbClr val="1A1A2E"/>
                </a:solidFill>
                <a:latin typeface="Times New Roman"/>
              </a:rPr>
              <a:t/>
            </a:r>
          </a:p>
          <a:p>
            <a:pPr algn="l"/>
            <a:r>
              <a:rPr sz="1400" b="0">
                <a:solidFill>
                  <a:srgbClr val="1A1A2E"/>
                </a:solidFill>
                <a:latin typeface="Times New Roman"/>
              </a:rPr>
              <a:t>•  Equipment rental tracking is done manually, resulting in inventory conflicts, double-bookings, and unclear return timelines.</a:t>
            </a:r>
          </a:p>
          <a:p>
            <a:pPr algn="l"/>
            <a:r>
              <a:rPr sz="1400" b="0">
                <a:solidFill>
                  <a:srgbClr val="1A1A2E"/>
                </a:solidFill>
                <a:latin typeface="Times New Roman"/>
              </a:rPr>
              <a:t/>
            </a:r>
          </a:p>
          <a:p>
            <a:pPr algn="l"/>
            <a:r>
              <a:rPr sz="1400" b="0">
                <a:solidFill>
                  <a:srgbClr val="1A1A2E"/>
                </a:solidFill>
                <a:latin typeface="Times New Roman"/>
              </a:rPr>
              <a:t>•  There is no standardized proposal versioning — agreed terms can be altered through informal chat messages without audit trails.</a:t>
            </a:r>
          </a:p>
          <a:p>
            <a:pPr algn="l"/>
            <a:r>
              <a:rPr sz="1400" b="0">
                <a:solidFill>
                  <a:srgbClr val="1A1A2E"/>
                </a:solidFill>
                <a:latin typeface="Times New Roman"/>
              </a:rPr>
              <a:t/>
            </a:r>
          </a:p>
          <a:p>
            <a:pPr algn="l"/>
            <a:r>
              <a:rPr sz="1400" b="0">
                <a:solidFill>
                  <a:srgbClr val="1A1A2E"/>
                </a:solidFill>
                <a:latin typeface="Times New Roman"/>
              </a:rPr>
              <a:t>•  Admin moderation and dispute resolution lack structured workflows and transparent audit logging.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Proposed System</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11</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400" b="0">
                <a:solidFill>
                  <a:srgbClr val="1A1A2E"/>
                </a:solidFill>
                <a:latin typeface="Times New Roman"/>
              </a:rPr>
              <a:t>•  VELUXE provides a unified digital marketplace connecting event organizers, customers, workers, and rental providers.</a:t>
            </a:r>
          </a:p>
          <a:p>
            <a:pPr algn="l"/>
            <a:r>
              <a:rPr sz="1400" b="0">
                <a:solidFill>
                  <a:srgbClr val="1A1A2E"/>
                </a:solidFill>
                <a:latin typeface="Times New Roman"/>
              </a:rPr>
              <a:t/>
            </a:r>
          </a:p>
          <a:p>
            <a:pPr algn="l"/>
            <a:r>
              <a:rPr sz="1400" b="0">
                <a:solidFill>
                  <a:srgbClr val="1A1A2E"/>
                </a:solidFill>
                <a:latin typeface="Times New Roman"/>
              </a:rPr>
              <a:t>•  Customers can discover organizers, browse customizable event packages, and submit quote requests through structured forms.</a:t>
            </a:r>
          </a:p>
          <a:p>
            <a:pPr algn="l"/>
            <a:r>
              <a:rPr sz="1400" b="0">
                <a:solidFill>
                  <a:srgbClr val="1A1A2E"/>
                </a:solidFill>
                <a:latin typeface="Times New Roman"/>
              </a:rPr>
              <a:t/>
            </a:r>
          </a:p>
          <a:p>
            <a:pPr algn="l"/>
            <a:r>
              <a:rPr sz="1400" b="0">
                <a:solidFill>
                  <a:srgbClr val="1A1A2E"/>
                </a:solidFill>
                <a:latin typeface="Times New Roman"/>
              </a:rPr>
              <a:t>•  In-app proposal negotiation with versioning ensures both parties agree on the exact same terms before booking confirmation.</a:t>
            </a:r>
          </a:p>
          <a:p>
            <a:pPr algn="l"/>
            <a:r>
              <a:rPr sz="1400" b="0">
                <a:solidFill>
                  <a:srgbClr val="1A1A2E"/>
                </a:solidFill>
                <a:latin typeface="Times New Roman"/>
              </a:rPr>
              <a:t/>
            </a:r>
          </a:p>
          <a:p>
            <a:pPr algn="l"/>
            <a:r>
              <a:rPr sz="1400" b="0">
                <a:solidFill>
                  <a:srgbClr val="1A1A2E"/>
                </a:solidFill>
                <a:latin typeface="Times New Roman"/>
              </a:rPr>
              <a:t>•  Direct worker hiring operates independently of event bookings, with availability checking and conflict prevention.</a:t>
            </a:r>
          </a:p>
          <a:p>
            <a:pPr algn="l"/>
            <a:r>
              <a:rPr sz="1400" b="0">
                <a:solidFill>
                  <a:srgbClr val="1A1A2E"/>
                </a:solidFill>
                <a:latin typeface="Times New Roman"/>
              </a:rPr>
              <a:t/>
            </a:r>
          </a:p>
          <a:p>
            <a:pPr algn="l"/>
            <a:r>
              <a:rPr sz="1400" b="0">
                <a:solidFill>
                  <a:srgbClr val="1A1A2E"/>
                </a:solidFill>
                <a:latin typeface="Times New Roman"/>
              </a:rPr>
              <a:t>•  Standalone equipment rental management with inventory tracking prevents double-booking and manages delivery/return workflows.</a:t>
            </a:r>
          </a:p>
          <a:p>
            <a:pPr algn="l"/>
            <a:r>
              <a:rPr sz="1400" b="0">
                <a:solidFill>
                  <a:srgbClr val="1A1A2E"/>
                </a:solidFill>
                <a:latin typeface="Times New Roman"/>
              </a:rPr>
              <a:t/>
            </a:r>
          </a:p>
          <a:p>
            <a:pPr algn="l"/>
            <a:r>
              <a:rPr sz="1400" b="0">
                <a:solidFill>
                  <a:srgbClr val="1A1A2E"/>
                </a:solidFill>
                <a:latin typeface="Times New Roman"/>
              </a:rPr>
              <a:t>•  Real-time messaging via Supabase Realtime enables instant communication between all platform roles.</a:t>
            </a:r>
          </a:p>
          <a:p>
            <a:pPr algn="l"/>
            <a:r>
              <a:rPr sz="1400" b="0">
                <a:solidFill>
                  <a:srgbClr val="1A1A2E"/>
                </a:solidFill>
                <a:latin typeface="Times New Roman"/>
              </a:rPr>
              <a:t/>
            </a:r>
          </a:p>
          <a:p>
            <a:pPr algn="l"/>
            <a:r>
              <a:rPr sz="1400" b="0">
                <a:solidFill>
                  <a:srgbClr val="1A1A2E"/>
                </a:solidFill>
                <a:latin typeface="Times New Roman"/>
              </a:rPr>
              <a:t>•  Role-based dashboards with Supabase Row-Level Security ensure data isolation and authorized access.</a:t>
            </a:r>
          </a:p>
          <a:p>
            <a:pPr algn="l"/>
            <a:r>
              <a:rPr sz="1400" b="0">
                <a:solidFill>
                  <a:srgbClr val="1A1A2E"/>
                </a:solidFill>
                <a:latin typeface="Times New Roman"/>
              </a:rPr>
              <a:t/>
            </a:r>
          </a:p>
          <a:p>
            <a:pPr algn="l"/>
            <a:r>
              <a:rPr sz="1400" b="0">
                <a:solidFill>
                  <a:srgbClr val="1A1A2E"/>
                </a:solidFill>
                <a:latin typeface="Times New Roman"/>
              </a:rPr>
              <a:t>•  Administrator audit logging and moderation tools provide platform governance with transparent action trails.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System Architecture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12</a:t>
            </a:r>
          </a:p>
        </p:txBody>
      </p:sp>
      <p:pic>
        <p:nvPicPr>
          <p:cNvPr id="7" name="Picture 6" descr="system_architecture_1792817016677.jpg"/>
          <p:cNvPicPr>
            <a:picLocks noChangeAspect="1"/>
          </p:cNvPicPr>
          <p:nvPr/>
        </p:nvPicPr>
        <p:blipFill>
          <a:blip r:embed="rId2"/>
          <a:stretch>
            <a:fillRect/>
          </a:stretch>
        </p:blipFill>
        <p:spPr>
          <a:xfrm>
            <a:off x="800000" y="1100000"/>
            <a:ext cx="10600000" cy="5200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Modules</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13</a:t>
            </a:r>
          </a:p>
        </p:txBody>
      </p:sp>
      <p:sp>
        <p:nvSpPr>
          <p:cNvPr id="7" name="TextBox 6"/>
          <p:cNvSpPr txBox="1"/>
          <p:nvPr/>
        </p:nvSpPr>
        <p:spPr>
          <a:xfrm>
            <a:off x="800000" y="1200000"/>
            <a:ext cx="10600000" cy="4800000"/>
          </a:xfrm>
          <a:prstGeom prst="rect">
            <a:avLst/>
          </a:prstGeom>
          <a:noFill/>
        </p:spPr>
        <p:txBody>
          <a:bodyPr wrap="square">
            <a:spAutoFit/>
          </a:bodyPr>
          <a:lstStyle/>
          <a:p>
            <a:pPr algn="l"/>
            <a:r>
              <a:rPr sz="2000" b="1">
                <a:solidFill>
                  <a:srgbClr val="1A1A2E"/>
                </a:solidFill>
                <a:latin typeface="Times New Roman"/>
              </a:rPr>
              <a:t>Module 1 — Event Organizer Module</a:t>
            </a:r>
          </a:p>
          <a:p>
            <a:pPr algn="l"/>
            <a:r>
              <a:rPr sz="2000" b="1">
                <a:solidFill>
                  <a:srgbClr val="1A1A2E"/>
                </a:solidFill>
                <a:latin typeface="Times New Roman"/>
              </a:rPr>
              <a:t>Module 2 — Customer Module</a:t>
            </a:r>
          </a:p>
          <a:p>
            <a:pPr algn="l"/>
            <a:r>
              <a:rPr sz="2000" b="1">
                <a:solidFill>
                  <a:srgbClr val="1A1A2E"/>
                </a:solidFill>
                <a:latin typeface="Times New Roman"/>
              </a:rPr>
              <a:t>Module 3 — Worker Module</a:t>
            </a:r>
          </a:p>
          <a:p>
            <a:pPr algn="l"/>
            <a:r>
              <a:rPr sz="2000" b="1">
                <a:solidFill>
                  <a:srgbClr val="1A1A2E"/>
                </a:solidFill>
                <a:latin typeface="Times New Roman"/>
              </a:rPr>
              <a:t>Module 4 — Rental Provider Module</a:t>
            </a:r>
          </a:p>
          <a:p>
            <a:pPr algn="l"/>
            <a:r>
              <a:rPr sz="2000" b="1">
                <a:solidFill>
                  <a:srgbClr val="1A1A2E"/>
                </a:solidFill>
                <a:latin typeface="Times New Roman"/>
              </a:rPr>
              <a:t>Module 5 — Admin &amp; Governance Module</a:t>
            </a:r>
          </a:p>
          <a:p>
            <a:pPr algn="l"/>
            <a:r>
              <a:rPr sz="2000" b="1">
                <a:solidFill>
                  <a:srgbClr val="1A1A2E"/>
                </a:solidFill>
                <a:latin typeface="Times New Roman"/>
              </a:rPr>
              <a:t>Module 6 — Cross-Role Integration &amp; Real-time Module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Module 1 — Event Organizer Module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14</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The Event Organizer Module provides a comprehensive dashboard for event companies to manage their entire business presence on the platform. Organizers can create and edit company profiles with branding, service categories, and contact details. They can publish customizable event packages with configurable items, pricing rules, inclusions, and optional add-ons.
The module supports receiving customer inquiries, preparing structured proposals with version control, and tracking the full negotiation lifecycle. Accepted proposals become confirmed bookings with clear status tracking. Organizers can also manage their booking calendar, communicate with customers through integrated messaging, and maintain a professional public-facing website template that showcases their portfolio, services, and customer reviews.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Module 2 — Customer Module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15</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The Customer Module enables event hosts — individuals, families, or businesses — to discover and engage with event service providers through an intuitive marketplace interface. Customers can search and compare organizer companies, browse published packages, customize service items and quantities, and submit quotation requests.
The module supports structured price negotiation through versioned proposals, in-app messaging for real-time communication, and booking management with status tracking. Customers can also hire catering workers directly through the worker marketplace, rent event equipment independently through the rental system, and maintain a unified dashboard showing all their bookings, worker assignments, and rental orders.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Module 3 — Worker Module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16</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The Worker Module supports catering professionals and event staff in managing their availability, skills, and job assignments. Workers can create professional profiles specifying their expertise, experience, service area, hourly or daily rates, and shift preferences.
The module includes an availability management system that prevents double-booking by checking existing confirmed assignments before accepting new requests. Workers receive job requests from both customers and organizers, can accept or reject them, and track upcoming confirmed assignments. The module ensures that worker hiring operates independently of event package bookings, supporting a flexible workforce marketplace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Module 4 — Rental Provider Module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17</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The Rental Provider Module enables businesses and individuals offering event equipment to manage their inventory, process rental requests, and track active orders. Providers can list products with descriptions, photos, rental rates, available quantities, and rental period constraints.
The module implements database-level inventory management to prevent double-booking of equipment for overlapping confirmed rental periods. Rental providers can confirm or reject requests, manage delivery and pickup logistics, configure deposit requirements, and track the complete lifecycle of rental orders from request through return and damage assessment. Standalone rental orders work independently of event organizer bookings.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Module 5 — Admin &amp; Governance Module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18</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The Admin and Governance Module provides platform administrators with tools for user moderation, dispute resolution, and operational oversight. Administrators can review reported accounts across all roles — customers, organizers, workers, and rental providers — examining report reasons and related evidence.
The module supports issuing warnings, applying account restrictions, and managing suspensions according to platform policy. Administrative actions are logged in a comprehensive audit trail for accountability. Role-based administrator permissions ensure that sensitive operations require appropriate authorization. The module also provides platform-wide analytics dashboards, user management tools, and dispute escalation workflows.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Module 6 — Cross-Role Integration &amp; Real-time Module</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19</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The Cross-Role Integration Module orchestrates the interactions between all platform roles, ensuring consistent data flow and business rule enforcement across the marketplace. It manages the three core business workflows — event organizer booking, direct worker hiring, and standalone equipment rental — as separate but interconnected business entities.
Built on Supabase Realtime, the module delivers real-time messaging and instant notification updates across all dashboards. It enforces Row-Level Security policies ensuring data isolation between users, implements proposal version integrity checks to prevent unilateral contract modifications, and coordinates availability checking across workers and rental inventory. The module also handles authentication flows, session management, and responsive UI coordination.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Output</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20</a:t>
            </a:r>
          </a:p>
        </p:txBody>
      </p:sp>
      <p:sp>
        <p:nvSpPr>
          <p:cNvPr id="7" name="TextBox 6"/>
          <p:cNvSpPr txBox="1"/>
          <p:nvPr/>
        </p:nvSpPr>
        <p:spPr>
          <a:xfrm>
            <a:off x="800000" y="2500000"/>
            <a:ext cx="10600000" cy="1500000"/>
          </a:xfrm>
          <a:prstGeom prst="rect">
            <a:avLst/>
          </a:prstGeom>
          <a:noFill/>
        </p:spPr>
        <p:txBody>
          <a:bodyPr wrap="square">
            <a:spAutoFit/>
          </a:bodyPr>
          <a:lstStyle/>
          <a:p>
            <a:pPr algn="ctr"/>
            <a:r>
              <a:rPr sz="1800" b="0">
                <a:solidFill>
                  <a:srgbClr val="1A1A2E"/>
                </a:solidFill>
                <a:latin typeface="Times New Roman"/>
              </a:rPr>
              <a:t>The following slides present screenshots from the VELUXE platform, demonstrating the implemented user interface and key functionality.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500000"/>
          </a:xfrm>
          <a:prstGeom prst="rect">
            <a:avLst/>
          </a:prstGeom>
          <a:noFill/>
        </p:spPr>
        <p:txBody>
          <a:bodyPr wrap="square">
            <a:spAutoFit/>
          </a:bodyPr>
          <a:lstStyle/>
          <a:p>
            <a:pPr algn="l"/>
            <a:r>
              <a:rPr sz="2000" b="1">
                <a:solidFill>
                  <a:srgbClr val="0070C0"/>
                </a:solidFill>
                <a:latin typeface="Times New Roman"/>
              </a:rPr>
              <a:t>VELUXE — Landing Page (Hero Section)</a:t>
            </a:r>
          </a:p>
        </p:txBody>
      </p:sp>
      <p:pic>
        <p:nvPicPr>
          <p:cNvPr id="5" name="Picture 4" descr="veluxe_hero_section_1792817126149.png"/>
          <p:cNvPicPr>
            <a:picLocks noChangeAspect="1"/>
          </p:cNvPicPr>
          <p:nvPr/>
        </p:nvPicPr>
        <p:blipFill>
          <a:blip r:embed="rId2"/>
          <a:stretch>
            <a:fillRect/>
          </a:stretch>
        </p:blipFill>
        <p:spPr>
          <a:xfrm>
            <a:off x="600000" y="800000"/>
            <a:ext cx="11000000" cy="5600000"/>
          </a:xfrm>
          <a:prstGeom prst="rect">
            <a:avLst/>
          </a:prstGeom>
        </p:spPr>
      </p:pic>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500000"/>
          </a:xfrm>
          <a:prstGeom prst="rect">
            <a:avLst/>
          </a:prstGeom>
          <a:noFill/>
        </p:spPr>
        <p:txBody>
          <a:bodyPr wrap="square">
            <a:spAutoFit/>
          </a:bodyPr>
          <a:lstStyle/>
          <a:p>
            <a:pPr algn="l"/>
            <a:r>
              <a:rPr sz="2000" b="1">
                <a:solidFill>
                  <a:srgbClr val="0070C0"/>
                </a:solidFill>
                <a:latin typeface="Times New Roman"/>
              </a:rPr>
              <a:t>VELUXE — Feature Cards &amp; Navigation</a:t>
            </a:r>
          </a:p>
        </p:txBody>
      </p:sp>
      <p:pic>
        <p:nvPicPr>
          <p:cNvPr id="5" name="Picture 4" descr="veluxe_features_section_1792817136202.png"/>
          <p:cNvPicPr>
            <a:picLocks noChangeAspect="1"/>
          </p:cNvPicPr>
          <p:nvPr/>
        </p:nvPicPr>
        <p:blipFill>
          <a:blip r:embed="rId2"/>
          <a:stretch>
            <a:fillRect/>
          </a:stretch>
        </p:blipFill>
        <p:spPr>
          <a:xfrm>
            <a:off x="600000" y="800000"/>
            <a:ext cx="11000000" cy="5600000"/>
          </a:xfrm>
          <a:prstGeom prst="rect">
            <a:avLst/>
          </a:prstGeom>
        </p:spPr>
      </p:pic>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500000"/>
          </a:xfrm>
          <a:prstGeom prst="rect">
            <a:avLst/>
          </a:prstGeom>
          <a:noFill/>
        </p:spPr>
        <p:txBody>
          <a:bodyPr wrap="square">
            <a:spAutoFit/>
          </a:bodyPr>
          <a:lstStyle/>
          <a:p>
            <a:pPr algn="l"/>
            <a:r>
              <a:rPr sz="2000" b="1">
                <a:solidFill>
                  <a:srgbClr val="0070C0"/>
                </a:solidFill>
                <a:latin typeface="Times New Roman"/>
              </a:rPr>
              <a:t>VELUXE — Organizer Dashboard</a:t>
            </a:r>
          </a:p>
        </p:txBody>
      </p:sp>
      <p:sp>
        <p:nvSpPr>
          <p:cNvPr id="5" name="TextBox 4"/>
          <p:cNvSpPr txBox="1"/>
          <p:nvPr/>
        </p:nvSpPr>
        <p:spPr>
          <a:xfrm>
            <a:off x="800000" y="2800000"/>
            <a:ext cx="10600000" cy="1500000"/>
          </a:xfrm>
          <a:prstGeom prst="rect">
            <a:avLst/>
          </a:prstGeom>
          <a:noFill/>
        </p:spPr>
        <p:txBody>
          <a:bodyPr wrap="square">
            <a:spAutoFit/>
          </a:bodyPr>
          <a:lstStyle/>
          <a:p>
            <a:pPr algn="ctr"/>
            <a:r>
              <a:rPr sz="2400" b="0">
                <a:solidFill>
                  <a:srgbClr val="999999"/>
                </a:solidFill>
                <a:latin typeface="Times New Roman"/>
              </a:rPr>
              <a:t>[INSERT SCREENSHOT HERE]</a:t>
            </a: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500000"/>
          </a:xfrm>
          <a:prstGeom prst="rect">
            <a:avLst/>
          </a:prstGeom>
          <a:noFill/>
        </p:spPr>
        <p:txBody>
          <a:bodyPr wrap="square">
            <a:spAutoFit/>
          </a:bodyPr>
          <a:lstStyle/>
          <a:p>
            <a:pPr algn="l"/>
            <a:r>
              <a:rPr sz="2000" b="1">
                <a:solidFill>
                  <a:srgbClr val="0070C0"/>
                </a:solidFill>
                <a:latin typeface="Times New Roman"/>
              </a:rPr>
              <a:t>VELUXE — Package Management</a:t>
            </a:r>
          </a:p>
        </p:txBody>
      </p:sp>
      <p:sp>
        <p:nvSpPr>
          <p:cNvPr id="5" name="TextBox 4"/>
          <p:cNvSpPr txBox="1"/>
          <p:nvPr/>
        </p:nvSpPr>
        <p:spPr>
          <a:xfrm>
            <a:off x="800000" y="2800000"/>
            <a:ext cx="10600000" cy="1500000"/>
          </a:xfrm>
          <a:prstGeom prst="rect">
            <a:avLst/>
          </a:prstGeom>
          <a:noFill/>
        </p:spPr>
        <p:txBody>
          <a:bodyPr wrap="square">
            <a:spAutoFit/>
          </a:bodyPr>
          <a:lstStyle/>
          <a:p>
            <a:pPr algn="ctr"/>
            <a:r>
              <a:rPr sz="2400" b="0">
                <a:solidFill>
                  <a:srgbClr val="999999"/>
                </a:solidFill>
                <a:latin typeface="Times New Roman"/>
              </a:rPr>
              <a:t>[INSERT SCREENSHOT HERE]</a:t>
            </a: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500000"/>
          </a:xfrm>
          <a:prstGeom prst="rect">
            <a:avLst/>
          </a:prstGeom>
          <a:noFill/>
        </p:spPr>
        <p:txBody>
          <a:bodyPr wrap="square">
            <a:spAutoFit/>
          </a:bodyPr>
          <a:lstStyle/>
          <a:p>
            <a:pPr algn="l"/>
            <a:r>
              <a:rPr sz="2000" b="1">
                <a:solidFill>
                  <a:srgbClr val="0070C0"/>
                </a:solidFill>
                <a:latin typeface="Times New Roman"/>
              </a:rPr>
              <a:t>VELUXE — Customer Marketplace View</a:t>
            </a:r>
          </a:p>
        </p:txBody>
      </p:sp>
      <p:sp>
        <p:nvSpPr>
          <p:cNvPr id="5" name="TextBox 4"/>
          <p:cNvSpPr txBox="1"/>
          <p:nvPr/>
        </p:nvSpPr>
        <p:spPr>
          <a:xfrm>
            <a:off x="800000" y="2800000"/>
            <a:ext cx="10600000" cy="1500000"/>
          </a:xfrm>
          <a:prstGeom prst="rect">
            <a:avLst/>
          </a:prstGeom>
          <a:noFill/>
        </p:spPr>
        <p:txBody>
          <a:bodyPr wrap="square">
            <a:spAutoFit/>
          </a:bodyPr>
          <a:lstStyle/>
          <a:p>
            <a:pPr algn="ctr"/>
            <a:r>
              <a:rPr sz="2400" b="0">
                <a:solidFill>
                  <a:srgbClr val="999999"/>
                </a:solidFill>
                <a:latin typeface="Times New Roman"/>
              </a:rPr>
              <a:t>[INSERT SCREENSHOT HERE]</a:t>
            </a: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500000"/>
          </a:xfrm>
          <a:prstGeom prst="rect">
            <a:avLst/>
          </a:prstGeom>
          <a:noFill/>
        </p:spPr>
        <p:txBody>
          <a:bodyPr wrap="square">
            <a:spAutoFit/>
          </a:bodyPr>
          <a:lstStyle/>
          <a:p>
            <a:pPr algn="l"/>
            <a:r>
              <a:rPr sz="2000" b="1">
                <a:solidFill>
                  <a:srgbClr val="0070C0"/>
                </a:solidFill>
                <a:latin typeface="Times New Roman"/>
              </a:rPr>
              <a:t>VELUXE — Admin Panel &amp; Audit Logs</a:t>
            </a:r>
          </a:p>
        </p:txBody>
      </p:sp>
      <p:sp>
        <p:nvSpPr>
          <p:cNvPr id="5" name="TextBox 4"/>
          <p:cNvSpPr txBox="1"/>
          <p:nvPr/>
        </p:nvSpPr>
        <p:spPr>
          <a:xfrm>
            <a:off x="800000" y="2800000"/>
            <a:ext cx="10600000" cy="1500000"/>
          </a:xfrm>
          <a:prstGeom prst="rect">
            <a:avLst/>
          </a:prstGeom>
          <a:noFill/>
        </p:spPr>
        <p:txBody>
          <a:bodyPr wrap="square">
            <a:spAutoFit/>
          </a:bodyPr>
          <a:lstStyle/>
          <a:p>
            <a:pPr algn="ctr"/>
            <a:r>
              <a:rPr sz="2400" b="0">
                <a:solidFill>
                  <a:srgbClr val="999999"/>
                </a:solidFill>
                <a:latin typeface="Times New Roman"/>
              </a:rPr>
              <a:t>[INSERT SCREENSHOT HERE]</a:t>
            </a: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Conclusion</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27</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The VELUXE platform demonstrates that a well-architected multi-sided digital marketplace can significantly simplify the coordination challenges inherent in event service management. By integrating event organizer booking, direct workforce hiring, and standalone equipment rental into a single platform, VELUXE eliminates the fragmentation of manual processes and informal communication channels.
The platform's modular architecture — built on Next.js 16, TypeScript, and Supabase — ensures scalability, type safety, and real-time responsiveness across all user roles. Structured proposal versioning with mutual acceptance prevents contractual ambiguity, while database-level Row-Level Security enforces data isolation and role-based access control.
Overall, VELUXE establishes a practical and extensible framework for modernizing event service discovery, negotiation, and booking coordination, laying the foundation for future enhancements including payment integration, review systems, automated pricing estimates, and intelligent provider matching.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Future Enhancement</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28</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500" b="0">
                <a:solidFill>
                  <a:srgbClr val="1A1A2E"/>
                </a:solidFill>
                <a:latin typeface="Times New Roman"/>
              </a:rPr>
              <a:t>Future enhancements for the VELUXE platform aim to expand functionality, improve user experience, and increase platform value across all roles.
Integrating a secure payment gateway would enable end-to-end transaction management including deposits, milestone payments, and refund handling. A comprehensive review and rating system would build trust and enable data-driven organizer discovery.
Additional features such as AI-powered pricing estimates based on historical booking data, intelligent vendor matching algorithms considering budget, location, and event type, and calendar-based availability optimization could significantly enhance the customer experience.
Multi-language and multi-currency support would enable geographic expansion. Push notifications, email workflows, and mobile-responsive progressive web app capabilities would improve real-time engagement. Advanced analytics dashboards for organizers and administrators would provide actionable business intelligence for platform growth and operational excellence.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References</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29</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300" b="0">
                <a:solidFill>
                  <a:srgbClr val="1A1A2E"/>
                </a:solidFill>
                <a:latin typeface="Times New Roman"/>
              </a:rPr>
              <a:t>[1] T. Koppers, S. Heo, and J. Potts, "Server-side rendering strategies for modern React frameworks with Server Components," in Proc. ACM Web Conf., Austin, TX, USA, pp. 1234-1245, 2023.</a:t>
            </a:r>
          </a:p>
          <a:p>
            <a:pPr algn="l"/>
            <a:r>
              <a:rPr sz="1300" b="0">
                <a:solidFill>
                  <a:srgbClr val="1A1A2E"/>
                </a:solidFill>
                <a:latin typeface="Times New Roman"/>
              </a:rPr>
              <a:t>[2] P. Copple and A. Wilson, "Supabase: Building real-time applications with open-source backend-as-a-service," IEEE Softw., vol. 39, no. 4, pp. 78-86, 2022.</a:t>
            </a:r>
          </a:p>
          <a:p>
            <a:pPr algn="l"/>
            <a:r>
              <a:rPr sz="1300" b="0">
                <a:solidFill>
                  <a:srgbClr val="1A1A2E"/>
                </a:solidFill>
                <a:latin typeface="Times New Roman"/>
              </a:rPr>
              <a:t>[3] A. Hagiu and J. Wright, "Multi-sided platform design patterns for digital marketplace ecosystems," Manage. Sci., vol. 69, no. 5, pp. 2890-2908, 2023.</a:t>
            </a:r>
          </a:p>
          <a:p>
            <a:pPr algn="l"/>
            <a:r>
              <a:rPr sz="1300" b="0">
                <a:solidFill>
                  <a:srgbClr val="1A1A2E"/>
                </a:solidFill>
                <a:latin typeface="Times New Roman"/>
              </a:rPr>
              <a:t>[4] M. Chen and R. Kumar, "Real-time communication in web applications using WebSockets and PostgreSQL event broadcasting," in Proc. IEEE ICWS, Barcelona, Spain, pp. 345-352, 2022.</a:t>
            </a:r>
          </a:p>
          <a:p>
            <a:pPr algn="l"/>
            <a:r>
              <a:rPr sz="1300" b="0">
                <a:solidFill>
                  <a:srgbClr val="1A1A2E"/>
                </a:solidFill>
                <a:latin typeface="Times New Roman"/>
              </a:rPr>
              <a:t>[5] S. Gupta and L. Fernandez, "Role-based access control patterns using database-level row-level security policies," IEEE Trans. Dependable Secure Comput., vol. 18, no. 3, pp. 1456-1468, 2021.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References</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30</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300" b="0">
                <a:solidFill>
                  <a:srgbClr val="1A1A2E"/>
                </a:solidFill>
                <a:latin typeface="Times New Roman"/>
              </a:rPr>
              <a:t>[6] A. Wathan and S. Schoger, "Responsive design systems using utility-first CSS frameworks for scalable web interfaces," in Proc. ACM UIST, Seattle, WA, USA, pp. 567-578, 2023.</a:t>
            </a:r>
          </a:p>
          <a:p>
            <a:pPr algn="l"/>
            <a:r>
              <a:rPr sz="1300" b="0">
                <a:solidFill>
                  <a:srgbClr val="1A1A2E"/>
                </a:solidFill>
                <a:latin typeface="Times New Roman"/>
              </a:rPr>
              <a:t>[7] R. Patel and D. Sharma, "Event management platform architectures: A comparative study of microservices and modular monolith approaches," J. Syst. Softw., vol. 192, pp. 111-124, 2022.</a:t>
            </a:r>
          </a:p>
          <a:p>
            <a:pPr algn="l"/>
            <a:r>
              <a:rPr sz="1300" b="0">
                <a:solidFill>
                  <a:srgbClr val="1A1A2E"/>
                </a:solidFill>
                <a:latin typeface="Times New Roman"/>
              </a:rPr>
              <a:t>[8] C. Buerke and K. Dodds, "Type-safe full-stack development with TypeScript and runtime validation schemas," ACM Comput. Surv., vol. 55, no. 9, pp. 1-34, 2023.</a:t>
            </a:r>
          </a:p>
          <a:p>
            <a:pPr algn="l"/>
            <a:r>
              <a:rPr sz="1300" b="0">
                <a:solidFill>
                  <a:srgbClr val="1A1A2E"/>
                </a:solidFill>
                <a:latin typeface="Times New Roman"/>
              </a:rPr>
              <a:t>[9] J. Liu and W. Zhang, "Inventory management and double-booking prevention in equipment rental marketplace platforms," IEEE Trans. Eng. Manage., vol. 69, no. 6, pp. 3456-3470, 2022.</a:t>
            </a:r>
          </a:p>
          <a:p>
            <a:pPr algn="l"/>
            <a:r>
              <a:rPr sz="1300" b="0">
                <a:solidFill>
                  <a:srgbClr val="1A1A2E"/>
                </a:solidFill>
                <a:latin typeface="Times New Roman"/>
              </a:rPr>
              <a:t>[10] K. Singh and N. Rao, "Proposal versioning and contract management workflows in B2B service marketplaces," in Proc. IEEE ICEBE, Hong Kong, China, pp. 89-96, 2023.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0000" y="200000"/>
            <a:ext cx="11400000" cy="700000"/>
          </a:xfrm>
          <a:prstGeom prst="rect">
            <a:avLst/>
          </a:prstGeom>
          <a:noFill/>
        </p:spPr>
        <p:txBody>
          <a:bodyPr wrap="square">
            <a:spAutoFit/>
          </a:bodyPr>
          <a:lstStyle/>
          <a:p>
            <a:pPr algn="l"/>
            <a:r>
              <a:rPr sz="2800" b="1">
                <a:solidFill>
                  <a:srgbClr val="0070C0"/>
                </a:solidFill>
                <a:latin typeface="Times New Roman"/>
              </a:rPr>
              <a:t>References</a:t>
            </a:r>
          </a:p>
        </p:txBody>
      </p:sp>
      <p:sp>
        <p:nvSpPr>
          <p:cNvPr id="5" name="Rectangle 4"/>
          <p:cNvSpPr/>
          <p:nvPr/>
        </p:nvSpPr>
        <p:spPr>
          <a:xfrm>
            <a:off x="400000" y="900000"/>
            <a:ext cx="11400000" cy="3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0000" y="6500000"/>
            <a:ext cx="800000" cy="300000"/>
          </a:xfrm>
          <a:prstGeom prst="rect">
            <a:avLst/>
          </a:prstGeom>
          <a:noFill/>
        </p:spPr>
        <p:txBody>
          <a:bodyPr wrap="square">
            <a:spAutoFit/>
          </a:bodyPr>
          <a:lstStyle/>
          <a:p>
            <a:pPr algn="r"/>
            <a:r>
              <a:rPr sz="1000" b="0">
                <a:solidFill>
                  <a:srgbClr val="999999"/>
                </a:solidFill>
                <a:latin typeface="Times New Roman"/>
              </a:rPr>
              <a:t>31</a:t>
            </a:r>
          </a:p>
        </p:txBody>
      </p:sp>
      <p:sp>
        <p:nvSpPr>
          <p:cNvPr id="7" name="TextBox 6"/>
          <p:cNvSpPr txBox="1"/>
          <p:nvPr/>
        </p:nvSpPr>
        <p:spPr>
          <a:xfrm>
            <a:off x="800000" y="1100000"/>
            <a:ext cx="10600000" cy="5200000"/>
          </a:xfrm>
          <a:prstGeom prst="rect">
            <a:avLst/>
          </a:prstGeom>
          <a:noFill/>
        </p:spPr>
        <p:txBody>
          <a:bodyPr wrap="square">
            <a:spAutoFit/>
          </a:bodyPr>
          <a:lstStyle/>
          <a:p>
            <a:pPr algn="l"/>
            <a:r>
              <a:rPr sz="1300" b="0">
                <a:solidFill>
                  <a:srgbClr val="1A1A2E"/>
                </a:solidFill>
                <a:latin typeface="Times New Roman"/>
              </a:rPr>
              <a:t>[11] D. Abramov and R. Florence, "React component architecture for complex multi-role dashboard applications," in Proc. ACM SIGPLAN, Philadelphia, PA, USA, pp. 201-215, 2023.</a:t>
            </a:r>
          </a:p>
          <a:p>
            <a:pPr algn="l"/>
            <a:r>
              <a:rPr sz="1300" b="0">
                <a:solidFill>
                  <a:srgbClr val="1A1A2E"/>
                </a:solidFill>
                <a:latin typeface="Times New Roman"/>
              </a:rPr>
              <a:t>[12] V. Savchenko and T. Mykhalchuk, "Authentication and session management patterns in server-rendered Next.js applications," IEEE Access, vol. 11, pp. 45678-45690, 2023.</a:t>
            </a:r>
          </a:p>
          <a:p>
            <a:pPr algn="l"/>
            <a:r>
              <a:rPr sz="1300" b="0">
                <a:solidFill>
                  <a:srgbClr val="1A1A2E"/>
                </a:solidFill>
                <a:latin typeface="Times New Roman"/>
              </a:rPr>
              <a:t>[13] L. Pacheco and H. Martinez, "In-app messaging systems for multi-tenant marketplace platforms," IEEE Trans. Services Comput., vol. 15, no. 4, pp. 2234-2247, 2022.</a:t>
            </a:r>
          </a:p>
          <a:p>
            <a:pPr algn="l"/>
            <a:r>
              <a:rPr sz="1300" b="0">
                <a:solidFill>
                  <a:srgbClr val="1A1A2E"/>
                </a:solidFill>
                <a:latin typeface="Times New Roman"/>
              </a:rPr>
              <a:t>[14] N. Takeda and S. Yamamoto, "Responsive dashboard design patterns for operational management interfaces," in Proc. ACM CHI, Hamburg, Germany, pp. 1-14, 2023.</a:t>
            </a:r>
          </a:p>
          <a:p>
            <a:pPr algn="l"/>
            <a:r>
              <a:rPr sz="1300" b="0">
                <a:solidFill>
                  <a:srgbClr val="1A1A2E"/>
                </a:solidFill>
                <a:latin typeface="Times New Roman"/>
              </a:rPr>
              <a:t>[15] F. Almeida and J. Santos, "Audit logging and administrative governance in multi-vendor digital platforms," IEEE Trans. Ind. Inform., vol. 18, no. 11, pp. 7890-7902, 2022.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50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50000"/>
            <a:ext cx="12192000" cy="10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500000"/>
            <a:ext cx="12192000" cy="1500000"/>
          </a:xfrm>
          <a:prstGeom prst="rect">
            <a:avLst/>
          </a:prstGeom>
          <a:noFill/>
        </p:spPr>
        <p:txBody>
          <a:bodyPr wrap="square">
            <a:spAutoFit/>
          </a:bodyPr>
          <a:lstStyle/>
          <a:p>
            <a:pPr algn="ctr"/>
            <a:r>
              <a:rPr sz="4400" b="1">
                <a:solidFill>
                  <a:srgbClr val="0070C0"/>
                </a:solidFill>
                <a:latin typeface="Times New Roman"/>
              </a:rPr>
              <a:t>THANK YOU…</a:t>
            </a:r>
          </a:p>
        </p:txBody>
      </p:sp>
      <p:sp>
        <p:nvSpPr>
          <p:cNvPr id="5" name="TextBox 4"/>
          <p:cNvSpPr txBox="1"/>
          <p:nvPr/>
        </p:nvSpPr>
        <p:spPr>
          <a:xfrm>
            <a:off x="0" y="4000000"/>
            <a:ext cx="12192000" cy="500000"/>
          </a:xfrm>
          <a:prstGeom prst="rect">
            <a:avLst/>
          </a:prstGeom>
          <a:noFill/>
        </p:spPr>
        <p:txBody>
          <a:bodyPr wrap="square">
            <a:spAutoFit/>
          </a:bodyPr>
          <a:lstStyle/>
          <a:p>
            <a:pPr algn="ctr"/>
            <a:r>
              <a:rPr sz="2000" b="0">
                <a:solidFill>
                  <a:srgbClr val="444444"/>
                </a:solidFill>
                <a:latin typeface="Times New Roman"/>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